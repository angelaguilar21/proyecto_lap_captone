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4" r:id="rId8"/>
    <p:sldId id="265" r:id="rId9"/>
    <p:sldId id="266" r:id="rId10"/>
    <p:sldId id="268"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GUILAR CONTRERAS, Angel Jesus" userId="c4de821b-6fe9-4bab-8aef-481fc69026f7" providerId="ADAL" clId="{BBEC1A91-02B3-44B9-8708-8021BB0904CC}"/>
    <pc:docChg chg="delSld modSld">
      <pc:chgData name="AGUILAR CONTRERAS, Angel Jesus" userId="c4de821b-6fe9-4bab-8aef-481fc69026f7" providerId="ADAL" clId="{BBEC1A91-02B3-44B9-8708-8021BB0904CC}" dt="2026-09-30T12:27:46.535" v="3" actId="20577"/>
      <pc:docMkLst>
        <pc:docMk/>
      </pc:docMkLst>
      <pc:sldChg chg="modSp mod">
        <pc:chgData name="AGUILAR CONTRERAS, Angel Jesus" userId="c4de821b-6fe9-4bab-8aef-481fc69026f7" providerId="ADAL" clId="{BBEC1A91-02B3-44B9-8708-8021BB0904CC}" dt="2026-09-30T12:27:46.535" v="3" actId="20577"/>
        <pc:sldMkLst>
          <pc:docMk/>
          <pc:sldMk cId="0" sldId="256"/>
        </pc:sldMkLst>
        <pc:spChg chg="mod">
          <ac:chgData name="AGUILAR CONTRERAS, Angel Jesus" userId="c4de821b-6fe9-4bab-8aef-481fc69026f7" providerId="ADAL" clId="{BBEC1A91-02B3-44B9-8708-8021BB0904CC}" dt="2026-09-30T12:27:46.535" v="3" actId="20577"/>
          <ac:spMkLst>
            <pc:docMk/>
            <pc:sldMk cId="0" sldId="256"/>
            <ac:spMk id="3" creationId="{00000000-0000-0000-0000-000000000000}"/>
          </ac:spMkLst>
        </pc:spChg>
      </pc:sldChg>
      <pc:sldChg chg="del">
        <pc:chgData name="AGUILAR CONTRERAS, Angel Jesus" userId="c4de821b-6fe9-4bab-8aef-481fc69026f7" providerId="ADAL" clId="{BBEC1A91-02B3-44B9-8708-8021BB0904CC}" dt="2026-09-30T12:26:19.559" v="1" actId="47"/>
        <pc:sldMkLst>
          <pc:docMk/>
          <pc:sldMk cId="0" sldId="262"/>
        </pc:sldMkLst>
      </pc:sldChg>
      <pc:sldChg chg="del">
        <pc:chgData name="AGUILAR CONTRERAS, Angel Jesus" userId="c4de821b-6fe9-4bab-8aef-481fc69026f7" providerId="ADAL" clId="{BBEC1A91-02B3-44B9-8708-8021BB0904CC}" dt="2026-09-30T12:26:16.920" v="0" actId="47"/>
        <pc:sldMkLst>
          <pc:docMk/>
          <pc:sldMk cId="0" sldId="263"/>
        </pc:sldMkLst>
      </pc:sldChg>
      <pc:sldChg chg="del">
        <pc:chgData name="AGUILAR CONTRERAS, Angel Jesus" userId="c4de821b-6fe9-4bab-8aef-481fc69026f7" providerId="ADAL" clId="{BBEC1A91-02B3-44B9-8708-8021BB0904CC}" dt="2026-09-30T12:27:26.056" v="2" actId="47"/>
        <pc:sldMkLst>
          <pc:docMk/>
          <pc:sldMk cId="0" sldId="267"/>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300" b="0" i="0" u="none" strike="noStrike">
                <a:solidFill>
                  <a:srgbClr val="0B1F3A"/>
                </a:solidFill>
                <a:latin typeface="Calibri"/>
              </a:defRPr>
            </a:pPr>
            <a:r>
              <a:rPr lang="es-ES" sz="1300" b="0" i="0" u="none" strike="noStrike">
                <a:solidFill>
                  <a:srgbClr val="0B1F3A"/>
                </a:solidFill>
                <a:latin typeface="Calibri"/>
              </a:rPr>
              <a:t>Ejemplo de prueba: El Bodegón (S/)</a:t>
            </a:r>
          </a:p>
        </c:rich>
      </c:tx>
      <c:overlay val="0"/>
    </c:title>
    <c:autoTitleDeleted val="0"/>
    <c:plotArea>
      <c:layout/>
      <c:barChart>
        <c:barDir val="col"/>
        <c:grouping val="clustered"/>
        <c:varyColors val="0"/>
        <c:ser>
          <c:idx val="0"/>
          <c:order val="0"/>
          <c:tx>
            <c:strRef>
              <c:f>Sheet1!$B$1</c:f>
              <c:strCache>
                <c:ptCount val="1"/>
                <c:pt idx="0">
                  <c:v>Proyección (S/)</c:v>
                </c:pt>
              </c:strCache>
            </c:strRef>
          </c:tx>
          <c:spPr>
            <a:solidFill>
              <a:srgbClr val="F2A93B"/>
            </a:solidFill>
            <a:effectLst/>
          </c:spPr>
          <c:invertIfNegative val="0"/>
          <c:dLbls>
            <c:numFmt formatCode="0.00" sourceLinked="0"/>
            <c:spPr>
              <a:noFill/>
              <a:ln>
                <a:noFill/>
              </a:ln>
              <a:effectLst/>
            </c:spPr>
            <c:txPr>
              <a:bodyPr/>
              <a:lstStyle/>
              <a:p>
                <a:pPr>
                  <a:defRPr sz="1200" b="0" i="0" u="none" strike="noStrike">
                    <a:solidFill>
                      <a:srgbClr val="1B2430"/>
                    </a:solidFill>
                    <a:latin typeface="Arial"/>
                  </a:defRPr>
                </a:pPr>
                <a:endParaRPr lang="es-P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18:00 (10 entradas)</c:v>
                </c:pt>
                <c:pt idx="1">
                  <c:v>19:00 (25 entradas)</c:v>
                </c:pt>
                <c:pt idx="2">
                  <c:v>20:00 (40 entradas)</c:v>
                </c:pt>
              </c:strCache>
            </c:strRef>
          </c:cat>
          <c:val>
            <c:numRef>
              <c:f>Sheet1!$B$2:$B$4</c:f>
              <c:numCache>
                <c:formatCode>General</c:formatCode>
                <c:ptCount val="3"/>
                <c:pt idx="0">
                  <c:v>212.5</c:v>
                </c:pt>
                <c:pt idx="1">
                  <c:v>531.25</c:v>
                </c:pt>
                <c:pt idx="2">
                  <c:v>850</c:v>
                </c:pt>
              </c:numCache>
            </c:numRef>
          </c:val>
          <c:extLst>
            <c:ext xmlns:c16="http://schemas.microsoft.com/office/drawing/2014/chart" uri="{C3380CC4-5D6E-409C-BE32-E72D297353CC}">
              <c16:uniqueId val="{00000000-494E-417C-BF23-A2B35FF374B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776"/>
                </a:solidFill>
                <a:latin typeface="Arial"/>
              </a:defRPr>
            </a:pPr>
            <a:endParaRPr lang="en-US"/>
          </a:p>
        </c:txPr>
        <c:crossAx val="2094734552"/>
        <c:crosses val="autoZero"/>
        <c:auto val="1"/>
        <c:lblAlgn val="ctr"/>
        <c:lblOffset val="100"/>
        <c:noMultiLvlLbl val="1"/>
      </c:catAx>
      <c:valAx>
        <c:axId val="2094734552"/>
        <c:scaling>
          <c:orientation val="minMax"/>
          <c:max val="1000"/>
        </c:scaling>
        <c:delete val="0"/>
        <c:axPos val="l"/>
        <c:majorGridlines>
          <c:spPr>
            <a:ln w="6350" cap="flat">
              <a:solidFill>
                <a:srgbClr val="E3E9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776"/>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8948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presentacion cubre solo lo nuevo: la fase comercial y las mejoras de vision de las ultimas semanas.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dos bloques oscuros son el eje de la presentacion: proyeccion y pronostico de ventas.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 de datos SQLite por proyecto. Tablas: ventas, trafico, incidentes y muestras de objetos.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muestra el rango historico observado, que no es un intervalo estadistico de confianza. No se confunde ingreso por entrada con ticket por compra. Si falta historial, no se inventa una venta.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pantalla Estimacion y pronostico muestra la hora cerrada y la siguiente hora, con el nivel de confianza por negocio.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conversion solo se calcula cuando hay transacciones y entradas medidas en la misma franja.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una senal experimental utilizable, no un censo de compradores.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Modulo AVIE (Adaptive Vision Inference Engine) en following/adaptive.py y detector YOLO en following/detector.py.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Cambios en live_core.py, counting/source.py y la pantalla de reportes.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y preguntas.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pic>
        <p:nvPicPr>
          <p:cNvPr id="2" name="Image 0" descr="C:/Users/Angel/OneDrive - Universidad ESAN/Escritorio/PROYECTO_LAP_CAPSTONE/Proyecto_LAP_Captone/proyecto_lap_prototipo/dashboard/public/assets/aerotrack-logo.png"/>
          <p:cNvPicPr>
            <a:picLocks noChangeAspect="1"/>
          </p:cNvPicPr>
          <p:nvPr/>
        </p:nvPicPr>
        <p:blipFill>
          <a:blip r:embed="rId3"/>
          <a:srcRect/>
          <a:stretch/>
        </p:blipFill>
        <p:spPr>
          <a:xfrm>
            <a:off x="457200" y="457200"/>
            <a:ext cx="1005840" cy="1005840"/>
          </a:xfrm>
          <a:prstGeom prst="rect">
            <a:avLst/>
          </a:prstGeom>
        </p:spPr>
      </p:pic>
      <p:sp>
        <p:nvSpPr>
          <p:cNvPr id="3" name="Text 0"/>
          <p:cNvSpPr txBox="1"/>
          <p:nvPr/>
        </p:nvSpPr>
        <p:spPr>
          <a:xfrm>
            <a:off x="457200" y="1691640"/>
            <a:ext cx="8229600" cy="822960"/>
          </a:xfrm>
          <a:prstGeom prst="rect">
            <a:avLst/>
          </a:prstGeom>
          <a:noFill/>
          <a:ln/>
        </p:spPr>
        <p:txBody>
          <a:bodyPr wrap="square" lIns="0" tIns="0" rIns="0" bIns="0" rtlCol="0" anchor="ctr"/>
          <a:lstStyle/>
          <a:p>
            <a:pPr marL="0" indent="0">
              <a:buNone/>
            </a:pPr>
            <a:r>
              <a:rPr lang="en-US" sz="4400" b="1" dirty="0" err="1">
                <a:solidFill>
                  <a:srgbClr val="FFFFFF"/>
                </a:solidFill>
                <a:latin typeface="Cambria" pitchFamily="34" charset="0"/>
                <a:ea typeface="Cambria" pitchFamily="34" charset="-122"/>
                <a:cs typeface="Cambria" pitchFamily="34" charset="-120"/>
              </a:rPr>
              <a:t>AeroTrack</a:t>
            </a:r>
            <a:endParaRPr lang="en-US" sz="4400" dirty="0"/>
          </a:p>
        </p:txBody>
      </p:sp>
      <p:sp>
        <p:nvSpPr>
          <p:cNvPr id="4" name="Text 1"/>
          <p:cNvSpPr txBox="1"/>
          <p:nvPr/>
        </p:nvSpPr>
        <p:spPr>
          <a:xfrm>
            <a:off x="457200" y="2606040"/>
            <a:ext cx="7315200" cy="822960"/>
          </a:xfrm>
          <a:prstGeom prst="rect">
            <a:avLst/>
          </a:prstGeom>
          <a:noFill/>
          <a:ln/>
        </p:spPr>
        <p:txBody>
          <a:bodyPr wrap="square" lIns="0" tIns="0" rIns="0" bIns="0" rtlCol="0" anchor="t"/>
          <a:lstStyle/>
          <a:p>
            <a:pPr marL="0" indent="0">
              <a:buNone/>
            </a:pPr>
            <a:r>
              <a:rPr lang="en-US" sz="2200" dirty="0">
                <a:solidFill>
                  <a:srgbClr val="DCE9F5"/>
                </a:solidFill>
                <a:latin typeface="Calibri" pitchFamily="34" charset="0"/>
                <a:ea typeface="Calibri" pitchFamily="34" charset="-122"/>
                <a:cs typeface="Calibri" pitchFamily="34" charset="-120"/>
              </a:rPr>
              <a:t>Análisis predictivo de ventas y otras novedades del sistema</a:t>
            </a:r>
            <a:endParaRPr lang="en-US" sz="2200" dirty="0"/>
          </a:p>
        </p:txBody>
      </p:sp>
      <p:sp>
        <p:nvSpPr>
          <p:cNvPr id="5" name="Text 2"/>
          <p:cNvSpPr txBox="1"/>
          <p:nvPr/>
        </p:nvSpPr>
        <p:spPr>
          <a:xfrm>
            <a:off x="457200" y="3703320"/>
            <a:ext cx="8229600" cy="320040"/>
          </a:xfrm>
          <a:prstGeom prst="rect">
            <a:avLst/>
          </a:prstGeom>
          <a:noFill/>
          <a:ln/>
        </p:spPr>
        <p:txBody>
          <a:bodyPr wrap="square" lIns="0" tIns="0" rIns="0" bIns="0" rtlCol="0" anchor="t"/>
          <a:lstStyle/>
          <a:p>
            <a:pPr marL="0" indent="0">
              <a:buNone/>
            </a:pPr>
            <a:r>
              <a:rPr lang="en-US" sz="1400" b="1" dirty="0">
                <a:solidFill>
                  <a:srgbClr val="F2A93B"/>
                </a:solidFill>
                <a:latin typeface="Calibri" pitchFamily="34" charset="0"/>
                <a:ea typeface="Calibri" pitchFamily="34" charset="-122"/>
                <a:cs typeface="Calibri" pitchFamily="34" charset="-120"/>
              </a:rPr>
              <a:t>Aeropuerto Internacional Jorge Chávez  |  Lima Airport Partners (LAP)</a:t>
            </a:r>
            <a:endParaRPr lang="en-US" sz="1400" dirty="0"/>
          </a:p>
        </p:txBody>
      </p:sp>
      <p:sp>
        <p:nvSpPr>
          <p:cNvPr id="6" name="Text 3"/>
          <p:cNvSpPr txBox="1"/>
          <p:nvPr/>
        </p:nvSpPr>
        <p:spPr>
          <a:xfrm>
            <a:off x="457200" y="4069080"/>
            <a:ext cx="8229600" cy="320040"/>
          </a:xfrm>
          <a:prstGeom prst="rect">
            <a:avLst/>
          </a:prstGeom>
          <a:noFill/>
          <a:ln/>
        </p:spPr>
        <p:txBody>
          <a:bodyPr wrap="square" lIns="0" tIns="0" rIns="0" bIns="0" rtlCol="0" anchor="t"/>
          <a:lstStyle/>
          <a:p>
            <a:pPr marL="0" indent="0">
              <a:buNone/>
            </a:pPr>
            <a:r>
              <a:rPr lang="en-US" sz="1200" dirty="0">
                <a:solidFill>
                  <a:srgbClr val="DCE9F5"/>
                </a:solidFill>
                <a:latin typeface="Calibri" pitchFamily="34" charset="0"/>
                <a:ea typeface="Calibri" pitchFamily="34" charset="-122"/>
                <a:cs typeface="Calibri" pitchFamily="34" charset="-120"/>
              </a:rPr>
              <a:t>Capstone I, Universidad ESAN  |  Angel Aguilar, Stephano Rivadeneyra, José Ortega, Fabián Moreno Ugarte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2800" b="1" dirty="0">
                <a:solidFill>
                  <a:srgbClr val="0B1F3A"/>
                </a:solidFill>
                <a:latin typeface="Cambria" pitchFamily="34" charset="0"/>
                <a:ea typeface="Cambria" pitchFamily="34" charset="-122"/>
                <a:cs typeface="Cambria" pitchFamily="34" charset="-120"/>
              </a:rPr>
              <a:t>Qué se añadió</a:t>
            </a:r>
            <a:endParaRPr lang="en-US" sz="2800" dirty="0"/>
          </a:p>
        </p:txBody>
      </p:sp>
      <p:sp>
        <p:nvSpPr>
          <p:cNvPr id="3" name="Shape 1"/>
          <p:cNvSpPr/>
          <p:nvPr/>
        </p:nvSpPr>
        <p:spPr>
          <a:xfrm>
            <a:off x="457200" y="1143000"/>
            <a:ext cx="4023360" cy="822960"/>
          </a:xfrm>
          <a:prstGeom prst="roundRect">
            <a:avLst>
              <a:gd name="adj" fmla="val 8889"/>
            </a:avLst>
          </a:prstGeom>
          <a:solidFill>
            <a:srgbClr val="F4F7FB"/>
          </a:solidFill>
          <a:ln w="9525">
            <a:solidFill>
              <a:srgbClr val="D5DEE9"/>
            </a:solidFill>
            <a:prstDash val="solid"/>
          </a:ln>
        </p:spPr>
        <p:txBody>
          <a:bodyPr/>
          <a:lstStyle/>
          <a:p>
            <a:endParaRPr lang="es-PE"/>
          </a:p>
        </p:txBody>
      </p:sp>
      <p:sp>
        <p:nvSpPr>
          <p:cNvPr id="4" name="Shape 2"/>
          <p:cNvSpPr/>
          <p:nvPr/>
        </p:nvSpPr>
        <p:spPr>
          <a:xfrm>
            <a:off x="594360" y="1362456"/>
            <a:ext cx="384048" cy="384048"/>
          </a:xfrm>
          <a:prstGeom prst="ellipse">
            <a:avLst/>
          </a:prstGeom>
          <a:solidFill>
            <a:srgbClr val="DCE9F5"/>
          </a:solidFill>
          <a:ln w="12700">
            <a:solidFill>
              <a:srgbClr val="DCE9F5"/>
            </a:solidFill>
            <a:prstDash val="solid"/>
          </a:ln>
        </p:spPr>
        <p:txBody>
          <a:bodyPr/>
          <a:lstStyle/>
          <a:p>
            <a:endParaRPr lang="es-PE"/>
          </a:p>
        </p:txBody>
      </p:sp>
      <p:sp>
        <p:nvSpPr>
          <p:cNvPr id="5" name="Text 3"/>
          <p:cNvSpPr txBox="1"/>
          <p:nvPr/>
        </p:nvSpPr>
        <p:spPr>
          <a:xfrm>
            <a:off x="594360" y="1362456"/>
            <a:ext cx="384048" cy="384048"/>
          </a:xfrm>
          <a:prstGeom prst="rect">
            <a:avLst/>
          </a:prstGeom>
          <a:noFill/>
          <a:ln/>
        </p:spPr>
        <p:txBody>
          <a:bodyPr wrap="square" lIns="0" tIns="0" rIns="0" bIns="0" rtlCol="0" anchor="ctr"/>
          <a:lstStyle/>
          <a:p>
            <a:pPr marL="0" indent="0" algn="ctr">
              <a:buNone/>
            </a:pPr>
            <a:r>
              <a:rPr lang="en-US" sz="1400" b="1" dirty="0">
                <a:solidFill>
                  <a:srgbClr val="0B1F3A"/>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143000" y="1234440"/>
            <a:ext cx="3200400" cy="320040"/>
          </a:xfrm>
          <a:prstGeom prst="rect">
            <a:avLst/>
          </a:prstGeom>
          <a:noFill/>
          <a:ln/>
        </p:spPr>
        <p:txBody>
          <a:bodyPr wrap="square" lIns="0" tIns="0" rIns="0" bIns="0" rtlCol="0" anchor="t"/>
          <a:lstStyle/>
          <a:p>
            <a:pPr marL="0" indent="0">
              <a:buNone/>
            </a:pPr>
            <a:r>
              <a:rPr lang="en-US" sz="1500" b="1" dirty="0">
                <a:solidFill>
                  <a:srgbClr val="0B1F3A"/>
                </a:solidFill>
                <a:latin typeface="Cambria" pitchFamily="34" charset="0"/>
                <a:ea typeface="Cambria" pitchFamily="34" charset="-122"/>
                <a:cs typeface="Cambria" pitchFamily="34" charset="-120"/>
              </a:rPr>
              <a:t>Negocios y accesos</a:t>
            </a:r>
            <a:endParaRPr lang="en-US" sz="1500" dirty="0"/>
          </a:p>
        </p:txBody>
      </p:sp>
      <p:sp>
        <p:nvSpPr>
          <p:cNvPr id="7" name="Text 5"/>
          <p:cNvSpPr txBox="1"/>
          <p:nvPr/>
        </p:nvSpPr>
        <p:spPr>
          <a:xfrm>
            <a:off x="1143000" y="1572768"/>
            <a:ext cx="3200400" cy="347472"/>
          </a:xfrm>
          <a:prstGeom prst="rect">
            <a:avLst/>
          </a:prstGeom>
          <a:noFill/>
          <a:ln/>
        </p:spPr>
        <p:txBody>
          <a:bodyPr wrap="square" lIns="0" tIns="0" rIns="0" bIns="0" rtlCol="0" anchor="t"/>
          <a:lstStyle/>
          <a:p>
            <a:pPr marL="0" indent="0">
              <a:buNone/>
            </a:pPr>
            <a:r>
              <a:rPr lang="en-US" sz="1200" dirty="0">
                <a:solidFill>
                  <a:srgbClr val="5B6776"/>
                </a:solidFill>
                <a:latin typeface="Calibri" pitchFamily="34" charset="0"/>
                <a:ea typeface="Calibri" pitchFamily="34" charset="-122"/>
                <a:cs typeface="Calibri" pitchFamily="34" charset="-120"/>
              </a:rPr>
              <a:t>Catálogo de tiendas y líneas de entrada por local</a:t>
            </a:r>
            <a:endParaRPr lang="en-US" sz="1200" dirty="0"/>
          </a:p>
        </p:txBody>
      </p:sp>
      <p:sp>
        <p:nvSpPr>
          <p:cNvPr id="8" name="Shape 6"/>
          <p:cNvSpPr/>
          <p:nvPr/>
        </p:nvSpPr>
        <p:spPr>
          <a:xfrm>
            <a:off x="4663440" y="1143000"/>
            <a:ext cx="4023360" cy="822960"/>
          </a:xfrm>
          <a:prstGeom prst="roundRect">
            <a:avLst>
              <a:gd name="adj" fmla="val 8889"/>
            </a:avLst>
          </a:prstGeom>
          <a:solidFill>
            <a:srgbClr val="F4F7FB"/>
          </a:solidFill>
          <a:ln w="9525">
            <a:solidFill>
              <a:srgbClr val="D5DEE9"/>
            </a:solidFill>
            <a:prstDash val="solid"/>
          </a:ln>
        </p:spPr>
        <p:txBody>
          <a:bodyPr/>
          <a:lstStyle/>
          <a:p>
            <a:endParaRPr lang="es-PE"/>
          </a:p>
        </p:txBody>
      </p:sp>
      <p:sp>
        <p:nvSpPr>
          <p:cNvPr id="9" name="Shape 7"/>
          <p:cNvSpPr/>
          <p:nvPr/>
        </p:nvSpPr>
        <p:spPr>
          <a:xfrm>
            <a:off x="4800600" y="1362456"/>
            <a:ext cx="384048" cy="384048"/>
          </a:xfrm>
          <a:prstGeom prst="ellipse">
            <a:avLst/>
          </a:prstGeom>
          <a:solidFill>
            <a:srgbClr val="DCE9F5"/>
          </a:solidFill>
          <a:ln w="12700">
            <a:solidFill>
              <a:srgbClr val="DCE9F5"/>
            </a:solidFill>
            <a:prstDash val="solid"/>
          </a:ln>
        </p:spPr>
        <p:txBody>
          <a:bodyPr/>
          <a:lstStyle/>
          <a:p>
            <a:endParaRPr lang="es-PE"/>
          </a:p>
        </p:txBody>
      </p:sp>
      <p:sp>
        <p:nvSpPr>
          <p:cNvPr id="10" name="Text 8"/>
          <p:cNvSpPr txBox="1"/>
          <p:nvPr/>
        </p:nvSpPr>
        <p:spPr>
          <a:xfrm>
            <a:off x="4800600" y="1362456"/>
            <a:ext cx="384048" cy="384048"/>
          </a:xfrm>
          <a:prstGeom prst="rect">
            <a:avLst/>
          </a:prstGeom>
          <a:noFill/>
          <a:ln/>
        </p:spPr>
        <p:txBody>
          <a:bodyPr wrap="square" lIns="0" tIns="0" rIns="0" bIns="0" rtlCol="0" anchor="ctr"/>
          <a:lstStyle/>
          <a:p>
            <a:pPr marL="0" indent="0" algn="ctr">
              <a:buNone/>
            </a:pPr>
            <a:r>
              <a:rPr lang="en-US" sz="1400" b="1" dirty="0">
                <a:solidFill>
                  <a:srgbClr val="0B1F3A"/>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5349240" y="1234440"/>
            <a:ext cx="3200400" cy="320040"/>
          </a:xfrm>
          <a:prstGeom prst="rect">
            <a:avLst/>
          </a:prstGeom>
          <a:noFill/>
          <a:ln/>
        </p:spPr>
        <p:txBody>
          <a:bodyPr wrap="square" lIns="0" tIns="0" rIns="0" bIns="0" rtlCol="0" anchor="t"/>
          <a:lstStyle/>
          <a:p>
            <a:pPr marL="0" indent="0">
              <a:buNone/>
            </a:pPr>
            <a:r>
              <a:rPr lang="en-US" sz="1500" b="1" dirty="0">
                <a:solidFill>
                  <a:srgbClr val="0B1F3A"/>
                </a:solidFill>
                <a:latin typeface="Cambria" pitchFamily="34" charset="0"/>
                <a:ea typeface="Cambria" pitchFamily="34" charset="-122"/>
                <a:cs typeface="Cambria" pitchFamily="34" charset="-120"/>
              </a:rPr>
              <a:t>Ventas por CSV</a:t>
            </a:r>
            <a:endParaRPr lang="en-US" sz="1500" dirty="0"/>
          </a:p>
        </p:txBody>
      </p:sp>
      <p:sp>
        <p:nvSpPr>
          <p:cNvPr id="12" name="Text 10"/>
          <p:cNvSpPr txBox="1"/>
          <p:nvPr/>
        </p:nvSpPr>
        <p:spPr>
          <a:xfrm>
            <a:off x="5349240" y="1572768"/>
            <a:ext cx="3200400" cy="347472"/>
          </a:xfrm>
          <a:prstGeom prst="rect">
            <a:avLst/>
          </a:prstGeom>
          <a:noFill/>
          <a:ln/>
        </p:spPr>
        <p:txBody>
          <a:bodyPr wrap="square" lIns="0" tIns="0" rIns="0" bIns="0" rtlCol="0" anchor="t"/>
          <a:lstStyle/>
          <a:p>
            <a:pPr marL="0" indent="0">
              <a:buNone/>
            </a:pPr>
            <a:r>
              <a:rPr lang="en-US" sz="1200" dirty="0">
                <a:solidFill>
                  <a:srgbClr val="5B6776"/>
                </a:solidFill>
                <a:latin typeface="Calibri" pitchFamily="34" charset="0"/>
                <a:ea typeface="Calibri" pitchFamily="34" charset="-122"/>
                <a:cs typeface="Calibri" pitchFamily="34" charset="-120"/>
              </a:rPr>
              <a:t>Importación validada de ventas por hora</a:t>
            </a:r>
            <a:endParaRPr lang="en-US" sz="1200" dirty="0"/>
          </a:p>
        </p:txBody>
      </p:sp>
      <p:sp>
        <p:nvSpPr>
          <p:cNvPr id="13" name="Shape 11"/>
          <p:cNvSpPr/>
          <p:nvPr/>
        </p:nvSpPr>
        <p:spPr>
          <a:xfrm>
            <a:off x="457200" y="2075688"/>
            <a:ext cx="4023360" cy="822960"/>
          </a:xfrm>
          <a:prstGeom prst="roundRect">
            <a:avLst>
              <a:gd name="adj" fmla="val 8889"/>
            </a:avLst>
          </a:prstGeom>
          <a:solidFill>
            <a:srgbClr val="0B1F3A"/>
          </a:solidFill>
          <a:ln w="9525">
            <a:solidFill>
              <a:srgbClr val="0B1F3A"/>
            </a:solidFill>
            <a:prstDash val="solid"/>
          </a:ln>
        </p:spPr>
        <p:txBody>
          <a:bodyPr/>
          <a:lstStyle/>
          <a:p>
            <a:endParaRPr lang="es-PE"/>
          </a:p>
        </p:txBody>
      </p:sp>
      <p:sp>
        <p:nvSpPr>
          <p:cNvPr id="14" name="Shape 12"/>
          <p:cNvSpPr/>
          <p:nvPr/>
        </p:nvSpPr>
        <p:spPr>
          <a:xfrm>
            <a:off x="594360" y="2295144"/>
            <a:ext cx="384048" cy="384048"/>
          </a:xfrm>
          <a:prstGeom prst="ellipse">
            <a:avLst/>
          </a:prstGeom>
          <a:solidFill>
            <a:srgbClr val="F2A93B"/>
          </a:solidFill>
          <a:ln w="12700">
            <a:solidFill>
              <a:srgbClr val="F2A93B"/>
            </a:solidFill>
            <a:prstDash val="solid"/>
          </a:ln>
        </p:spPr>
        <p:txBody>
          <a:bodyPr/>
          <a:lstStyle/>
          <a:p>
            <a:endParaRPr lang="es-PE"/>
          </a:p>
        </p:txBody>
      </p:sp>
      <p:sp>
        <p:nvSpPr>
          <p:cNvPr id="15" name="Text 13"/>
          <p:cNvSpPr txBox="1"/>
          <p:nvPr/>
        </p:nvSpPr>
        <p:spPr>
          <a:xfrm>
            <a:off x="594360" y="2295144"/>
            <a:ext cx="384048" cy="384048"/>
          </a:xfrm>
          <a:prstGeom prst="rect">
            <a:avLst/>
          </a:prstGeom>
          <a:noFill/>
          <a:ln/>
        </p:spPr>
        <p:txBody>
          <a:bodyPr wrap="square" lIns="0" tIns="0" rIns="0" bIns="0" rtlCol="0" anchor="ctr"/>
          <a:lstStyle/>
          <a:p>
            <a:pPr marL="0" indent="0" algn="ctr">
              <a:buNone/>
            </a:pPr>
            <a:r>
              <a:rPr lang="en-US" sz="1400" b="1" dirty="0">
                <a:solidFill>
                  <a:srgbClr val="0B1F3A"/>
                </a:solidFill>
                <a:latin typeface="Calibri" pitchFamily="34" charset="0"/>
                <a:ea typeface="Calibri" pitchFamily="34" charset="-122"/>
                <a:cs typeface="Calibri" pitchFamily="34" charset="-120"/>
              </a:rPr>
              <a:t>3</a:t>
            </a:r>
            <a:endParaRPr lang="en-US" sz="1400" dirty="0"/>
          </a:p>
        </p:txBody>
      </p:sp>
      <p:sp>
        <p:nvSpPr>
          <p:cNvPr id="16" name="Text 14"/>
          <p:cNvSpPr txBox="1"/>
          <p:nvPr/>
        </p:nvSpPr>
        <p:spPr>
          <a:xfrm>
            <a:off x="1143000" y="2167128"/>
            <a:ext cx="3200400" cy="320040"/>
          </a:xfrm>
          <a:prstGeom prst="rect">
            <a:avLst/>
          </a:prstGeom>
          <a:noFill/>
          <a:ln/>
        </p:spPr>
        <p:txBody>
          <a:bodyPr wrap="square" lIns="0" tIns="0" rIns="0" bIns="0" rtlCol="0" anchor="t"/>
          <a:lstStyle/>
          <a:p>
            <a:pPr marL="0" indent="0">
              <a:buNone/>
            </a:pPr>
            <a:r>
              <a:rPr lang="en-US" sz="1500" b="1" dirty="0">
                <a:solidFill>
                  <a:srgbClr val="FFFFFF"/>
                </a:solidFill>
                <a:latin typeface="Cambria" pitchFamily="34" charset="0"/>
                <a:ea typeface="Cambria" pitchFamily="34" charset="-122"/>
                <a:cs typeface="Cambria" pitchFamily="34" charset="-120"/>
              </a:rPr>
              <a:t>Proyección de ventas</a:t>
            </a:r>
            <a:endParaRPr lang="en-US" sz="1500" dirty="0"/>
          </a:p>
        </p:txBody>
      </p:sp>
      <p:sp>
        <p:nvSpPr>
          <p:cNvPr id="17" name="Text 15"/>
          <p:cNvSpPr txBox="1"/>
          <p:nvPr/>
        </p:nvSpPr>
        <p:spPr>
          <a:xfrm>
            <a:off x="1143000" y="2505456"/>
            <a:ext cx="3200400" cy="347472"/>
          </a:xfrm>
          <a:prstGeom prst="rect">
            <a:avLst/>
          </a:prstGeom>
          <a:noFill/>
          <a:ln/>
        </p:spPr>
        <p:txBody>
          <a:bodyPr wrap="square" lIns="0" tIns="0" rIns="0" bIns="0" rtlCol="0" anchor="t"/>
          <a:lstStyle/>
          <a:p>
            <a:pPr marL="0" indent="0">
              <a:buNone/>
            </a:pPr>
            <a:r>
              <a:rPr lang="en-US" sz="1200" dirty="0">
                <a:solidFill>
                  <a:srgbClr val="DCE9F5"/>
                </a:solidFill>
                <a:latin typeface="Calibri" pitchFamily="34" charset="0"/>
                <a:ea typeface="Calibri" pitchFamily="34" charset="-122"/>
                <a:cs typeface="Calibri" pitchFamily="34" charset="-120"/>
              </a:rPr>
              <a:t>Estimación a partir de las entradas medidas</a:t>
            </a:r>
            <a:endParaRPr lang="en-US" sz="1200" dirty="0"/>
          </a:p>
        </p:txBody>
      </p:sp>
      <p:sp>
        <p:nvSpPr>
          <p:cNvPr id="18" name="Shape 16"/>
          <p:cNvSpPr/>
          <p:nvPr/>
        </p:nvSpPr>
        <p:spPr>
          <a:xfrm>
            <a:off x="4663440" y="2075688"/>
            <a:ext cx="4023360" cy="822960"/>
          </a:xfrm>
          <a:prstGeom prst="roundRect">
            <a:avLst>
              <a:gd name="adj" fmla="val 8889"/>
            </a:avLst>
          </a:prstGeom>
          <a:solidFill>
            <a:srgbClr val="0B1F3A"/>
          </a:solidFill>
          <a:ln w="9525">
            <a:solidFill>
              <a:srgbClr val="0B1F3A"/>
            </a:solidFill>
            <a:prstDash val="solid"/>
          </a:ln>
        </p:spPr>
        <p:txBody>
          <a:bodyPr/>
          <a:lstStyle/>
          <a:p>
            <a:endParaRPr lang="es-PE"/>
          </a:p>
        </p:txBody>
      </p:sp>
      <p:sp>
        <p:nvSpPr>
          <p:cNvPr id="19" name="Shape 17"/>
          <p:cNvSpPr/>
          <p:nvPr/>
        </p:nvSpPr>
        <p:spPr>
          <a:xfrm>
            <a:off x="4800600" y="2295144"/>
            <a:ext cx="384048" cy="384048"/>
          </a:xfrm>
          <a:prstGeom prst="ellipse">
            <a:avLst/>
          </a:prstGeom>
          <a:solidFill>
            <a:srgbClr val="F2A93B"/>
          </a:solidFill>
          <a:ln w="12700">
            <a:solidFill>
              <a:srgbClr val="F2A93B"/>
            </a:solidFill>
            <a:prstDash val="solid"/>
          </a:ln>
        </p:spPr>
        <p:txBody>
          <a:bodyPr/>
          <a:lstStyle/>
          <a:p>
            <a:endParaRPr lang="es-PE"/>
          </a:p>
        </p:txBody>
      </p:sp>
      <p:sp>
        <p:nvSpPr>
          <p:cNvPr id="20" name="Text 18"/>
          <p:cNvSpPr txBox="1"/>
          <p:nvPr/>
        </p:nvSpPr>
        <p:spPr>
          <a:xfrm>
            <a:off x="4800600" y="2295144"/>
            <a:ext cx="384048" cy="384048"/>
          </a:xfrm>
          <a:prstGeom prst="rect">
            <a:avLst/>
          </a:prstGeom>
          <a:noFill/>
          <a:ln/>
        </p:spPr>
        <p:txBody>
          <a:bodyPr wrap="square" lIns="0" tIns="0" rIns="0" bIns="0" rtlCol="0" anchor="ctr"/>
          <a:lstStyle/>
          <a:p>
            <a:pPr marL="0" indent="0" algn="ctr">
              <a:buNone/>
            </a:pPr>
            <a:r>
              <a:rPr lang="en-US" sz="1400" b="1" dirty="0">
                <a:solidFill>
                  <a:srgbClr val="0B1F3A"/>
                </a:solidFill>
                <a:latin typeface="Calibri" pitchFamily="34" charset="0"/>
                <a:ea typeface="Calibri" pitchFamily="34" charset="-122"/>
                <a:cs typeface="Calibri" pitchFamily="34" charset="-120"/>
              </a:rPr>
              <a:t>4</a:t>
            </a:r>
            <a:endParaRPr lang="en-US" sz="1400" dirty="0"/>
          </a:p>
        </p:txBody>
      </p:sp>
      <p:sp>
        <p:nvSpPr>
          <p:cNvPr id="21" name="Text 19"/>
          <p:cNvSpPr txBox="1"/>
          <p:nvPr/>
        </p:nvSpPr>
        <p:spPr>
          <a:xfrm>
            <a:off x="5349240" y="2167128"/>
            <a:ext cx="3200400" cy="320040"/>
          </a:xfrm>
          <a:prstGeom prst="rect">
            <a:avLst/>
          </a:prstGeom>
          <a:noFill/>
          <a:ln/>
        </p:spPr>
        <p:txBody>
          <a:bodyPr wrap="square" lIns="0" tIns="0" rIns="0" bIns="0" rtlCol="0" anchor="t"/>
          <a:lstStyle/>
          <a:p>
            <a:pPr marL="0" indent="0">
              <a:buNone/>
            </a:pPr>
            <a:r>
              <a:rPr lang="en-US" sz="1500" b="1" dirty="0">
                <a:solidFill>
                  <a:srgbClr val="FFFFFF"/>
                </a:solidFill>
                <a:latin typeface="Cambria" pitchFamily="34" charset="0"/>
                <a:ea typeface="Cambria" pitchFamily="34" charset="-122"/>
                <a:cs typeface="Cambria" pitchFamily="34" charset="-120"/>
              </a:rPr>
              <a:t>Pronóstico de la siguiente hora</a:t>
            </a:r>
            <a:endParaRPr lang="en-US" sz="1500" dirty="0"/>
          </a:p>
        </p:txBody>
      </p:sp>
      <p:sp>
        <p:nvSpPr>
          <p:cNvPr id="22" name="Text 20"/>
          <p:cNvSpPr txBox="1"/>
          <p:nvPr/>
        </p:nvSpPr>
        <p:spPr>
          <a:xfrm>
            <a:off x="5349240" y="2505456"/>
            <a:ext cx="3200400" cy="347472"/>
          </a:xfrm>
          <a:prstGeom prst="rect">
            <a:avLst/>
          </a:prstGeom>
          <a:noFill/>
          <a:ln/>
        </p:spPr>
        <p:txBody>
          <a:bodyPr wrap="square" lIns="0" tIns="0" rIns="0" bIns="0" rtlCol="0" anchor="t"/>
          <a:lstStyle/>
          <a:p>
            <a:pPr marL="0" indent="0">
              <a:buNone/>
            </a:pPr>
            <a:r>
              <a:rPr lang="en-US" sz="1200" dirty="0">
                <a:solidFill>
                  <a:srgbClr val="DCE9F5"/>
                </a:solidFill>
                <a:latin typeface="Calibri" pitchFamily="34" charset="0"/>
                <a:ea typeface="Calibri" pitchFamily="34" charset="-122"/>
                <a:cs typeface="Calibri" pitchFamily="34" charset="-120"/>
              </a:rPr>
              <a:t>Entradas y venta esperadas, con nivel de confianza</a:t>
            </a:r>
            <a:endParaRPr lang="en-US" sz="1200" dirty="0"/>
          </a:p>
        </p:txBody>
      </p:sp>
      <p:sp>
        <p:nvSpPr>
          <p:cNvPr id="23" name="Shape 21"/>
          <p:cNvSpPr/>
          <p:nvPr/>
        </p:nvSpPr>
        <p:spPr>
          <a:xfrm>
            <a:off x="457200" y="3008376"/>
            <a:ext cx="4023360" cy="822960"/>
          </a:xfrm>
          <a:prstGeom prst="roundRect">
            <a:avLst>
              <a:gd name="adj" fmla="val 8889"/>
            </a:avLst>
          </a:prstGeom>
          <a:solidFill>
            <a:srgbClr val="F4F7FB"/>
          </a:solidFill>
          <a:ln w="9525">
            <a:solidFill>
              <a:srgbClr val="D5DEE9"/>
            </a:solidFill>
            <a:prstDash val="solid"/>
          </a:ln>
        </p:spPr>
        <p:txBody>
          <a:bodyPr/>
          <a:lstStyle/>
          <a:p>
            <a:endParaRPr lang="es-PE"/>
          </a:p>
        </p:txBody>
      </p:sp>
      <p:sp>
        <p:nvSpPr>
          <p:cNvPr id="24" name="Shape 22"/>
          <p:cNvSpPr/>
          <p:nvPr/>
        </p:nvSpPr>
        <p:spPr>
          <a:xfrm>
            <a:off x="594360" y="3227832"/>
            <a:ext cx="384048" cy="384048"/>
          </a:xfrm>
          <a:prstGeom prst="ellipse">
            <a:avLst/>
          </a:prstGeom>
          <a:solidFill>
            <a:srgbClr val="DCE9F5"/>
          </a:solidFill>
          <a:ln w="12700">
            <a:solidFill>
              <a:srgbClr val="DCE9F5"/>
            </a:solidFill>
            <a:prstDash val="solid"/>
          </a:ln>
        </p:spPr>
        <p:txBody>
          <a:bodyPr/>
          <a:lstStyle/>
          <a:p>
            <a:endParaRPr lang="es-PE"/>
          </a:p>
        </p:txBody>
      </p:sp>
      <p:sp>
        <p:nvSpPr>
          <p:cNvPr id="25" name="Text 23"/>
          <p:cNvSpPr txBox="1"/>
          <p:nvPr/>
        </p:nvSpPr>
        <p:spPr>
          <a:xfrm>
            <a:off x="594360" y="3227832"/>
            <a:ext cx="384048" cy="384048"/>
          </a:xfrm>
          <a:prstGeom prst="rect">
            <a:avLst/>
          </a:prstGeom>
          <a:noFill/>
          <a:ln/>
        </p:spPr>
        <p:txBody>
          <a:bodyPr wrap="square" lIns="0" tIns="0" rIns="0" bIns="0" rtlCol="0" anchor="ctr"/>
          <a:lstStyle/>
          <a:p>
            <a:pPr marL="0" indent="0" algn="ctr">
              <a:buNone/>
            </a:pPr>
            <a:r>
              <a:rPr lang="en-US" sz="1400" b="1" dirty="0">
                <a:solidFill>
                  <a:srgbClr val="0B1F3A"/>
                </a:solidFill>
                <a:latin typeface="Calibri" pitchFamily="34" charset="0"/>
                <a:ea typeface="Calibri" pitchFamily="34" charset="-122"/>
                <a:cs typeface="Calibri" pitchFamily="34" charset="-120"/>
              </a:rPr>
              <a:t>5</a:t>
            </a:r>
            <a:endParaRPr lang="en-US" sz="1400" dirty="0"/>
          </a:p>
        </p:txBody>
      </p:sp>
      <p:sp>
        <p:nvSpPr>
          <p:cNvPr id="26" name="Text 24"/>
          <p:cNvSpPr txBox="1"/>
          <p:nvPr/>
        </p:nvSpPr>
        <p:spPr>
          <a:xfrm>
            <a:off x="1143000" y="3099816"/>
            <a:ext cx="3200400" cy="320040"/>
          </a:xfrm>
          <a:prstGeom prst="rect">
            <a:avLst/>
          </a:prstGeom>
          <a:noFill/>
          <a:ln/>
        </p:spPr>
        <p:txBody>
          <a:bodyPr wrap="square" lIns="0" tIns="0" rIns="0" bIns="0" rtlCol="0" anchor="t"/>
          <a:lstStyle/>
          <a:p>
            <a:pPr marL="0" indent="0">
              <a:buNone/>
            </a:pPr>
            <a:r>
              <a:rPr lang="en-US" sz="1500" b="1" dirty="0">
                <a:solidFill>
                  <a:srgbClr val="0B1F3A"/>
                </a:solidFill>
                <a:latin typeface="Cambria" pitchFamily="34" charset="0"/>
                <a:ea typeface="Cambria" pitchFamily="34" charset="-122"/>
                <a:cs typeface="Cambria" pitchFamily="34" charset="-120"/>
              </a:rPr>
              <a:t>Aglomeración y ventas</a:t>
            </a:r>
            <a:endParaRPr lang="en-US" sz="1500" dirty="0"/>
          </a:p>
        </p:txBody>
      </p:sp>
      <p:sp>
        <p:nvSpPr>
          <p:cNvPr id="27" name="Text 25"/>
          <p:cNvSpPr txBox="1"/>
          <p:nvPr/>
        </p:nvSpPr>
        <p:spPr>
          <a:xfrm>
            <a:off x="1143000" y="3438144"/>
            <a:ext cx="3200400" cy="347472"/>
          </a:xfrm>
          <a:prstGeom prst="rect">
            <a:avLst/>
          </a:prstGeom>
          <a:noFill/>
          <a:ln/>
        </p:spPr>
        <p:txBody>
          <a:bodyPr wrap="square" lIns="0" tIns="0" rIns="0" bIns="0" rtlCol="0" anchor="t"/>
          <a:lstStyle/>
          <a:p>
            <a:pPr marL="0" indent="0">
              <a:buNone/>
            </a:pPr>
            <a:r>
              <a:rPr lang="en-US" sz="1200" dirty="0">
                <a:solidFill>
                  <a:srgbClr val="5B6776"/>
                </a:solidFill>
                <a:latin typeface="Calibri" pitchFamily="34" charset="0"/>
                <a:ea typeface="Calibri" pitchFamily="34" charset="-122"/>
                <a:cs typeface="Calibri" pitchFamily="34" charset="-120"/>
              </a:rPr>
              <a:t>Compara la venta de la hora de cada incidente</a:t>
            </a:r>
            <a:endParaRPr lang="en-US" sz="1200" dirty="0"/>
          </a:p>
        </p:txBody>
      </p:sp>
      <p:sp>
        <p:nvSpPr>
          <p:cNvPr id="28" name="Shape 26"/>
          <p:cNvSpPr/>
          <p:nvPr/>
        </p:nvSpPr>
        <p:spPr>
          <a:xfrm>
            <a:off x="4663440" y="3008376"/>
            <a:ext cx="4023360" cy="822960"/>
          </a:xfrm>
          <a:prstGeom prst="roundRect">
            <a:avLst>
              <a:gd name="adj" fmla="val 8889"/>
            </a:avLst>
          </a:prstGeom>
          <a:solidFill>
            <a:srgbClr val="F4F7FB"/>
          </a:solidFill>
          <a:ln w="9525">
            <a:solidFill>
              <a:srgbClr val="D5DEE9"/>
            </a:solidFill>
            <a:prstDash val="solid"/>
          </a:ln>
        </p:spPr>
        <p:txBody>
          <a:bodyPr/>
          <a:lstStyle/>
          <a:p>
            <a:endParaRPr lang="es-PE"/>
          </a:p>
        </p:txBody>
      </p:sp>
      <p:sp>
        <p:nvSpPr>
          <p:cNvPr id="29" name="Shape 27"/>
          <p:cNvSpPr/>
          <p:nvPr/>
        </p:nvSpPr>
        <p:spPr>
          <a:xfrm>
            <a:off x="4800600" y="3227832"/>
            <a:ext cx="384048" cy="384048"/>
          </a:xfrm>
          <a:prstGeom prst="ellipse">
            <a:avLst/>
          </a:prstGeom>
          <a:solidFill>
            <a:srgbClr val="DCE9F5"/>
          </a:solidFill>
          <a:ln w="12700">
            <a:solidFill>
              <a:srgbClr val="DCE9F5"/>
            </a:solidFill>
            <a:prstDash val="solid"/>
          </a:ln>
        </p:spPr>
        <p:txBody>
          <a:bodyPr/>
          <a:lstStyle/>
          <a:p>
            <a:endParaRPr lang="es-PE"/>
          </a:p>
        </p:txBody>
      </p:sp>
      <p:sp>
        <p:nvSpPr>
          <p:cNvPr id="30" name="Text 28"/>
          <p:cNvSpPr txBox="1"/>
          <p:nvPr/>
        </p:nvSpPr>
        <p:spPr>
          <a:xfrm>
            <a:off x="4800600" y="3227832"/>
            <a:ext cx="384048" cy="384048"/>
          </a:xfrm>
          <a:prstGeom prst="rect">
            <a:avLst/>
          </a:prstGeom>
          <a:noFill/>
          <a:ln/>
        </p:spPr>
        <p:txBody>
          <a:bodyPr wrap="square" lIns="0" tIns="0" rIns="0" bIns="0" rtlCol="0" anchor="ctr"/>
          <a:lstStyle/>
          <a:p>
            <a:pPr marL="0" indent="0" algn="ctr">
              <a:buNone/>
            </a:pPr>
            <a:r>
              <a:rPr lang="en-US" sz="1400" b="1" dirty="0">
                <a:solidFill>
                  <a:srgbClr val="0B1F3A"/>
                </a:solidFill>
                <a:latin typeface="Calibri" pitchFamily="34" charset="0"/>
                <a:ea typeface="Calibri" pitchFamily="34" charset="-122"/>
                <a:cs typeface="Calibri" pitchFamily="34" charset="-120"/>
              </a:rPr>
              <a:t>6</a:t>
            </a:r>
            <a:endParaRPr lang="en-US" sz="1400" dirty="0"/>
          </a:p>
        </p:txBody>
      </p:sp>
      <p:sp>
        <p:nvSpPr>
          <p:cNvPr id="31" name="Text 29"/>
          <p:cNvSpPr txBox="1"/>
          <p:nvPr/>
        </p:nvSpPr>
        <p:spPr>
          <a:xfrm>
            <a:off x="5349240" y="3099816"/>
            <a:ext cx="3200400" cy="320040"/>
          </a:xfrm>
          <a:prstGeom prst="rect">
            <a:avLst/>
          </a:prstGeom>
          <a:noFill/>
          <a:ln/>
        </p:spPr>
        <p:txBody>
          <a:bodyPr wrap="square" lIns="0" tIns="0" rIns="0" bIns="0" rtlCol="0" anchor="t"/>
          <a:lstStyle/>
          <a:p>
            <a:pPr marL="0" indent="0">
              <a:buNone/>
            </a:pPr>
            <a:r>
              <a:rPr lang="en-US" sz="1500" b="1" dirty="0">
                <a:solidFill>
                  <a:srgbClr val="0B1F3A"/>
                </a:solidFill>
                <a:latin typeface="Cambria" pitchFamily="34" charset="0"/>
                <a:ea typeface="Cambria" pitchFamily="34" charset="-122"/>
                <a:cs typeface="Cambria" pitchFamily="34" charset="-120"/>
              </a:rPr>
              <a:t>Señal de objeto nuevo</a:t>
            </a:r>
            <a:endParaRPr lang="en-US" sz="1500" dirty="0"/>
          </a:p>
        </p:txBody>
      </p:sp>
      <p:sp>
        <p:nvSpPr>
          <p:cNvPr id="32" name="Text 30"/>
          <p:cNvSpPr txBox="1"/>
          <p:nvPr/>
        </p:nvSpPr>
        <p:spPr>
          <a:xfrm>
            <a:off x="5349240" y="3438144"/>
            <a:ext cx="3200400" cy="347472"/>
          </a:xfrm>
          <a:prstGeom prst="rect">
            <a:avLst/>
          </a:prstGeom>
          <a:noFill/>
          <a:ln/>
        </p:spPr>
        <p:txBody>
          <a:bodyPr wrap="square" lIns="0" tIns="0" rIns="0" bIns="0" rtlCol="0" anchor="t"/>
          <a:lstStyle/>
          <a:p>
            <a:pPr marL="0" indent="0">
              <a:buNone/>
            </a:pPr>
            <a:r>
              <a:rPr lang="en-US" sz="1200" dirty="0">
                <a:solidFill>
                  <a:srgbClr val="5B6776"/>
                </a:solidFill>
                <a:latin typeface="Calibri" pitchFamily="34" charset="0"/>
                <a:ea typeface="Calibri" pitchFamily="34" charset="-122"/>
                <a:cs typeface="Calibri" pitchFamily="34" charset="-120"/>
              </a:rPr>
              <a:t>Experimental: detecta si salen con algo nuevo</a:t>
            </a:r>
            <a:endParaRPr lang="en-US" sz="1200" dirty="0"/>
          </a:p>
        </p:txBody>
      </p:sp>
      <p:sp>
        <p:nvSpPr>
          <p:cNvPr id="33" name="Shape 31"/>
          <p:cNvSpPr/>
          <p:nvPr/>
        </p:nvSpPr>
        <p:spPr>
          <a:xfrm>
            <a:off x="457200" y="3941064"/>
            <a:ext cx="4023360" cy="822960"/>
          </a:xfrm>
          <a:prstGeom prst="roundRect">
            <a:avLst>
              <a:gd name="adj" fmla="val 8889"/>
            </a:avLst>
          </a:prstGeom>
          <a:solidFill>
            <a:srgbClr val="F4F7FB"/>
          </a:solidFill>
          <a:ln w="9525">
            <a:solidFill>
              <a:srgbClr val="D5DEE9"/>
            </a:solidFill>
            <a:prstDash val="solid"/>
          </a:ln>
        </p:spPr>
        <p:txBody>
          <a:bodyPr/>
          <a:lstStyle/>
          <a:p>
            <a:endParaRPr lang="es-PE"/>
          </a:p>
        </p:txBody>
      </p:sp>
      <p:sp>
        <p:nvSpPr>
          <p:cNvPr id="34" name="Shape 32"/>
          <p:cNvSpPr/>
          <p:nvPr/>
        </p:nvSpPr>
        <p:spPr>
          <a:xfrm>
            <a:off x="594360" y="4160520"/>
            <a:ext cx="384048" cy="384048"/>
          </a:xfrm>
          <a:prstGeom prst="ellipse">
            <a:avLst/>
          </a:prstGeom>
          <a:solidFill>
            <a:srgbClr val="DCE9F5"/>
          </a:solidFill>
          <a:ln w="12700">
            <a:solidFill>
              <a:srgbClr val="DCE9F5"/>
            </a:solidFill>
            <a:prstDash val="solid"/>
          </a:ln>
        </p:spPr>
        <p:txBody>
          <a:bodyPr/>
          <a:lstStyle/>
          <a:p>
            <a:endParaRPr lang="es-PE"/>
          </a:p>
        </p:txBody>
      </p:sp>
      <p:sp>
        <p:nvSpPr>
          <p:cNvPr id="35" name="Text 33"/>
          <p:cNvSpPr txBox="1"/>
          <p:nvPr/>
        </p:nvSpPr>
        <p:spPr>
          <a:xfrm>
            <a:off x="594360" y="4160520"/>
            <a:ext cx="384048" cy="384048"/>
          </a:xfrm>
          <a:prstGeom prst="rect">
            <a:avLst/>
          </a:prstGeom>
          <a:noFill/>
          <a:ln/>
        </p:spPr>
        <p:txBody>
          <a:bodyPr wrap="square" lIns="0" tIns="0" rIns="0" bIns="0" rtlCol="0" anchor="ctr"/>
          <a:lstStyle/>
          <a:p>
            <a:pPr marL="0" indent="0" algn="ctr">
              <a:buNone/>
            </a:pPr>
            <a:r>
              <a:rPr lang="en-US" sz="1400" b="1" dirty="0">
                <a:solidFill>
                  <a:srgbClr val="0B1F3A"/>
                </a:solidFill>
                <a:latin typeface="Calibri" pitchFamily="34" charset="0"/>
                <a:ea typeface="Calibri" pitchFamily="34" charset="-122"/>
                <a:cs typeface="Calibri" pitchFamily="34" charset="-120"/>
              </a:rPr>
              <a:t>7</a:t>
            </a:r>
            <a:endParaRPr lang="en-US" sz="1400" dirty="0"/>
          </a:p>
        </p:txBody>
      </p:sp>
      <p:sp>
        <p:nvSpPr>
          <p:cNvPr id="36" name="Text 34"/>
          <p:cNvSpPr txBox="1"/>
          <p:nvPr/>
        </p:nvSpPr>
        <p:spPr>
          <a:xfrm>
            <a:off x="1143000" y="4032504"/>
            <a:ext cx="3200400" cy="320040"/>
          </a:xfrm>
          <a:prstGeom prst="rect">
            <a:avLst/>
          </a:prstGeom>
          <a:noFill/>
          <a:ln/>
        </p:spPr>
        <p:txBody>
          <a:bodyPr wrap="square" lIns="0" tIns="0" rIns="0" bIns="0" rtlCol="0" anchor="t"/>
          <a:lstStyle/>
          <a:p>
            <a:pPr marL="0" indent="0">
              <a:buNone/>
            </a:pPr>
            <a:r>
              <a:rPr lang="en-US" sz="1500" b="1" dirty="0">
                <a:solidFill>
                  <a:srgbClr val="0B1F3A"/>
                </a:solidFill>
                <a:latin typeface="Cambria" pitchFamily="34" charset="0"/>
                <a:ea typeface="Cambria" pitchFamily="34" charset="-122"/>
                <a:cs typeface="Cambria" pitchFamily="34" charset="-120"/>
              </a:rPr>
              <a:t>Visión adaptativa</a:t>
            </a:r>
            <a:endParaRPr lang="en-US" sz="1500" dirty="0"/>
          </a:p>
        </p:txBody>
      </p:sp>
      <p:sp>
        <p:nvSpPr>
          <p:cNvPr id="37" name="Text 35"/>
          <p:cNvSpPr txBox="1"/>
          <p:nvPr/>
        </p:nvSpPr>
        <p:spPr>
          <a:xfrm>
            <a:off x="1143000" y="4370832"/>
            <a:ext cx="3200400" cy="347472"/>
          </a:xfrm>
          <a:prstGeom prst="rect">
            <a:avLst/>
          </a:prstGeom>
          <a:noFill/>
          <a:ln/>
        </p:spPr>
        <p:txBody>
          <a:bodyPr wrap="square" lIns="0" tIns="0" rIns="0" bIns="0" rtlCol="0" anchor="t"/>
          <a:lstStyle/>
          <a:p>
            <a:pPr marL="0" indent="0">
              <a:buNone/>
            </a:pPr>
            <a:r>
              <a:rPr lang="en-US" sz="1200" dirty="0">
                <a:solidFill>
                  <a:srgbClr val="5B6776"/>
                </a:solidFill>
                <a:latin typeface="Calibri" pitchFamily="34" charset="0"/>
                <a:ea typeface="Calibri" pitchFamily="34" charset="-122"/>
                <a:cs typeface="Calibri" pitchFamily="34" charset="-120"/>
              </a:rPr>
              <a:t>Activa un conteo de densidad en escenas saturadas</a:t>
            </a:r>
            <a:endParaRPr lang="en-US" sz="1200" dirty="0"/>
          </a:p>
        </p:txBody>
      </p:sp>
      <p:sp>
        <p:nvSpPr>
          <p:cNvPr id="38" name="Shape 36"/>
          <p:cNvSpPr/>
          <p:nvPr/>
        </p:nvSpPr>
        <p:spPr>
          <a:xfrm>
            <a:off x="4663440" y="3941064"/>
            <a:ext cx="4023360" cy="822960"/>
          </a:xfrm>
          <a:prstGeom prst="roundRect">
            <a:avLst>
              <a:gd name="adj" fmla="val 8889"/>
            </a:avLst>
          </a:prstGeom>
          <a:solidFill>
            <a:srgbClr val="F4F7FB"/>
          </a:solidFill>
          <a:ln w="9525">
            <a:solidFill>
              <a:srgbClr val="D5DEE9"/>
            </a:solidFill>
            <a:prstDash val="solid"/>
          </a:ln>
        </p:spPr>
        <p:txBody>
          <a:bodyPr/>
          <a:lstStyle/>
          <a:p>
            <a:endParaRPr lang="es-PE"/>
          </a:p>
        </p:txBody>
      </p:sp>
      <p:sp>
        <p:nvSpPr>
          <p:cNvPr id="39" name="Shape 37"/>
          <p:cNvSpPr/>
          <p:nvPr/>
        </p:nvSpPr>
        <p:spPr>
          <a:xfrm>
            <a:off x="4800600" y="4160520"/>
            <a:ext cx="384048" cy="384048"/>
          </a:xfrm>
          <a:prstGeom prst="ellipse">
            <a:avLst/>
          </a:prstGeom>
          <a:solidFill>
            <a:srgbClr val="DCE9F5"/>
          </a:solidFill>
          <a:ln w="12700">
            <a:solidFill>
              <a:srgbClr val="DCE9F5"/>
            </a:solidFill>
            <a:prstDash val="solid"/>
          </a:ln>
        </p:spPr>
        <p:txBody>
          <a:bodyPr/>
          <a:lstStyle/>
          <a:p>
            <a:endParaRPr lang="es-PE"/>
          </a:p>
        </p:txBody>
      </p:sp>
      <p:sp>
        <p:nvSpPr>
          <p:cNvPr id="40" name="Text 38"/>
          <p:cNvSpPr txBox="1"/>
          <p:nvPr/>
        </p:nvSpPr>
        <p:spPr>
          <a:xfrm>
            <a:off x="4800600" y="4160520"/>
            <a:ext cx="384048" cy="384048"/>
          </a:xfrm>
          <a:prstGeom prst="rect">
            <a:avLst/>
          </a:prstGeom>
          <a:noFill/>
          <a:ln/>
        </p:spPr>
        <p:txBody>
          <a:bodyPr wrap="square" lIns="0" tIns="0" rIns="0" bIns="0" rtlCol="0" anchor="ctr"/>
          <a:lstStyle/>
          <a:p>
            <a:pPr marL="0" indent="0" algn="ctr">
              <a:buNone/>
            </a:pPr>
            <a:r>
              <a:rPr lang="en-US" sz="1400" b="1" dirty="0">
                <a:solidFill>
                  <a:srgbClr val="0B1F3A"/>
                </a:solidFill>
                <a:latin typeface="Calibri" pitchFamily="34" charset="0"/>
                <a:ea typeface="Calibri" pitchFamily="34" charset="-122"/>
                <a:cs typeface="Calibri" pitchFamily="34" charset="-120"/>
              </a:rPr>
              <a:t>8</a:t>
            </a:r>
            <a:endParaRPr lang="en-US" sz="1400" dirty="0"/>
          </a:p>
        </p:txBody>
      </p:sp>
      <p:sp>
        <p:nvSpPr>
          <p:cNvPr id="41" name="Text 39"/>
          <p:cNvSpPr txBox="1"/>
          <p:nvPr/>
        </p:nvSpPr>
        <p:spPr>
          <a:xfrm>
            <a:off x="5349240" y="4032504"/>
            <a:ext cx="3200400" cy="320040"/>
          </a:xfrm>
          <a:prstGeom prst="rect">
            <a:avLst/>
          </a:prstGeom>
          <a:noFill/>
          <a:ln/>
        </p:spPr>
        <p:txBody>
          <a:bodyPr wrap="square" lIns="0" tIns="0" rIns="0" bIns="0" rtlCol="0" anchor="t"/>
          <a:lstStyle/>
          <a:p>
            <a:pPr marL="0" indent="0">
              <a:buNone/>
            </a:pPr>
            <a:r>
              <a:rPr lang="en-US" sz="1500" b="1" dirty="0">
                <a:solidFill>
                  <a:srgbClr val="0B1F3A"/>
                </a:solidFill>
                <a:latin typeface="Cambria" pitchFamily="34" charset="0"/>
                <a:ea typeface="Cambria" pitchFamily="34" charset="-122"/>
                <a:cs typeface="Cambria" pitchFamily="34" charset="-120"/>
              </a:rPr>
              <a:t>Reportes por sesión</a:t>
            </a:r>
            <a:endParaRPr lang="en-US" sz="1500" dirty="0"/>
          </a:p>
        </p:txBody>
      </p:sp>
      <p:sp>
        <p:nvSpPr>
          <p:cNvPr id="42" name="Text 40"/>
          <p:cNvSpPr txBox="1"/>
          <p:nvPr/>
        </p:nvSpPr>
        <p:spPr>
          <a:xfrm>
            <a:off x="5349240" y="4370832"/>
            <a:ext cx="3200400" cy="347472"/>
          </a:xfrm>
          <a:prstGeom prst="rect">
            <a:avLst/>
          </a:prstGeom>
          <a:noFill/>
          <a:ln/>
        </p:spPr>
        <p:txBody>
          <a:bodyPr wrap="square" lIns="0" tIns="0" rIns="0" bIns="0" rtlCol="0" anchor="t"/>
          <a:lstStyle/>
          <a:p>
            <a:pPr marL="0" indent="0">
              <a:buNone/>
            </a:pPr>
            <a:r>
              <a:rPr lang="en-US" sz="1200" dirty="0">
                <a:solidFill>
                  <a:srgbClr val="5B6776"/>
                </a:solidFill>
                <a:latin typeface="Calibri" pitchFamily="34" charset="0"/>
                <a:ea typeface="Calibri" pitchFamily="34" charset="-122"/>
                <a:cs typeface="Calibri" pitchFamily="34" charset="-120"/>
              </a:rPr>
              <a:t>PDF, Excel y CSV, con vista por empresa</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2800" b="1" dirty="0">
                <a:solidFill>
                  <a:srgbClr val="0B1F3A"/>
                </a:solidFill>
                <a:latin typeface="Cambria" pitchFamily="34" charset="0"/>
                <a:ea typeface="Cambria" pitchFamily="34" charset="-122"/>
                <a:cs typeface="Cambria" pitchFamily="34" charset="-120"/>
              </a:rPr>
              <a:t>Del conteo de personas a las ventas</a:t>
            </a:r>
            <a:endParaRPr lang="en-US" sz="2800" dirty="0"/>
          </a:p>
        </p:txBody>
      </p:sp>
      <p:sp>
        <p:nvSpPr>
          <p:cNvPr id="3" name="Shape 1"/>
          <p:cNvSpPr/>
          <p:nvPr/>
        </p:nvSpPr>
        <p:spPr>
          <a:xfrm>
            <a:off x="457200" y="1188720"/>
            <a:ext cx="1874520" cy="1920240"/>
          </a:xfrm>
          <a:prstGeom prst="roundRect">
            <a:avLst>
              <a:gd name="adj" fmla="val 3902"/>
            </a:avLst>
          </a:prstGeom>
          <a:solidFill>
            <a:srgbClr val="FFFFFF"/>
          </a:solidFill>
          <a:ln w="9525">
            <a:solidFill>
              <a:srgbClr val="D5DEE9"/>
            </a:solidFill>
            <a:prstDash val="solid"/>
          </a:ln>
        </p:spPr>
        <p:txBody>
          <a:bodyPr/>
          <a:lstStyle/>
          <a:p>
            <a:endParaRPr lang="es-PE"/>
          </a:p>
        </p:txBody>
      </p:sp>
      <p:sp>
        <p:nvSpPr>
          <p:cNvPr id="4" name="Shape 2"/>
          <p:cNvSpPr/>
          <p:nvPr/>
        </p:nvSpPr>
        <p:spPr>
          <a:xfrm>
            <a:off x="594360" y="1325880"/>
            <a:ext cx="384048" cy="384048"/>
          </a:xfrm>
          <a:prstGeom prst="ellipse">
            <a:avLst/>
          </a:prstGeom>
          <a:solidFill>
            <a:srgbClr val="DCE9F5"/>
          </a:solidFill>
          <a:ln w="12700">
            <a:solidFill>
              <a:srgbClr val="DCE9F5"/>
            </a:solidFill>
            <a:prstDash val="solid"/>
          </a:ln>
        </p:spPr>
        <p:txBody>
          <a:bodyPr/>
          <a:lstStyle/>
          <a:p>
            <a:endParaRPr lang="es-PE"/>
          </a:p>
        </p:txBody>
      </p:sp>
      <p:sp>
        <p:nvSpPr>
          <p:cNvPr id="5" name="Text 3"/>
          <p:cNvSpPr txBox="1"/>
          <p:nvPr/>
        </p:nvSpPr>
        <p:spPr>
          <a:xfrm>
            <a:off x="594360" y="1325880"/>
            <a:ext cx="384048" cy="384048"/>
          </a:xfrm>
          <a:prstGeom prst="rect">
            <a:avLst/>
          </a:prstGeom>
          <a:noFill/>
          <a:ln/>
        </p:spPr>
        <p:txBody>
          <a:bodyPr wrap="square" lIns="0" tIns="0" rIns="0" bIns="0" rtlCol="0" anchor="ctr"/>
          <a:lstStyle/>
          <a:p>
            <a:pPr marL="0" indent="0" algn="ctr">
              <a:buNone/>
            </a:pPr>
            <a:r>
              <a:rPr lang="en-US" sz="1400" b="1" dirty="0">
                <a:solidFill>
                  <a:srgbClr val="0B1F3A"/>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594360" y="1828800"/>
            <a:ext cx="1645920" cy="365760"/>
          </a:xfrm>
          <a:prstGeom prst="rect">
            <a:avLst/>
          </a:prstGeom>
          <a:noFill/>
          <a:ln/>
        </p:spPr>
        <p:txBody>
          <a:bodyPr wrap="square" lIns="0" tIns="0" rIns="0" bIns="0" rtlCol="0" anchor="t"/>
          <a:lstStyle/>
          <a:p>
            <a:pPr marL="0" indent="0">
              <a:buNone/>
            </a:pPr>
            <a:r>
              <a:rPr lang="en-US" sz="1700" b="1" dirty="0">
                <a:solidFill>
                  <a:srgbClr val="1F5C8B"/>
                </a:solidFill>
                <a:latin typeface="Cambria" pitchFamily="34" charset="0"/>
                <a:ea typeface="Cambria" pitchFamily="34" charset="-122"/>
                <a:cs typeface="Cambria" pitchFamily="34" charset="-120"/>
              </a:rPr>
              <a:t>Entradas</a:t>
            </a:r>
            <a:endParaRPr lang="en-US" sz="1700" dirty="0"/>
          </a:p>
        </p:txBody>
      </p:sp>
      <p:sp>
        <p:nvSpPr>
          <p:cNvPr id="7" name="Text 5"/>
          <p:cNvSpPr txBox="1"/>
          <p:nvPr/>
        </p:nvSpPr>
        <p:spPr>
          <a:xfrm>
            <a:off x="594360" y="2240280"/>
            <a:ext cx="1645920" cy="822960"/>
          </a:xfrm>
          <a:prstGeom prst="rect">
            <a:avLst/>
          </a:prstGeom>
          <a:noFill/>
          <a:ln/>
        </p:spPr>
        <p:txBody>
          <a:bodyPr wrap="square" lIns="0" tIns="0" rIns="0" bIns="0" rtlCol="0" anchor="t"/>
          <a:lstStyle/>
          <a:p>
            <a:pPr marL="0" indent="0">
              <a:buNone/>
            </a:pPr>
            <a:r>
              <a:rPr lang="en-US" sz="1300" dirty="0">
                <a:solidFill>
                  <a:srgbClr val="1B2430"/>
                </a:solidFill>
                <a:latin typeface="Calibri" pitchFamily="34" charset="0"/>
                <a:ea typeface="Calibri" pitchFamily="34" charset="-122"/>
                <a:cs typeface="Calibri" pitchFamily="34" charset="-120"/>
              </a:rPr>
              <a:t>Línea de acceso en cámara, con sentido de entrada</a:t>
            </a:r>
            <a:endParaRPr lang="en-US" sz="1300" dirty="0"/>
          </a:p>
        </p:txBody>
      </p:sp>
      <p:sp>
        <p:nvSpPr>
          <p:cNvPr id="8" name="Text 6"/>
          <p:cNvSpPr txBox="1"/>
          <p:nvPr/>
        </p:nvSpPr>
        <p:spPr>
          <a:xfrm>
            <a:off x="2350008" y="1920240"/>
            <a:ext cx="228600" cy="365760"/>
          </a:xfrm>
          <a:prstGeom prst="rect">
            <a:avLst/>
          </a:prstGeom>
          <a:noFill/>
          <a:ln/>
        </p:spPr>
        <p:txBody>
          <a:bodyPr wrap="square" lIns="0" tIns="0" rIns="0" bIns="0" rtlCol="0" anchor="t"/>
          <a:lstStyle/>
          <a:p>
            <a:pPr marL="0" indent="0" algn="ctr">
              <a:buNone/>
            </a:pPr>
            <a:r>
              <a:rPr lang="en-US" sz="2000" b="1" dirty="0">
                <a:solidFill>
                  <a:srgbClr val="F2A93B"/>
                </a:solidFill>
                <a:latin typeface="Calibri" pitchFamily="34" charset="0"/>
                <a:ea typeface="Calibri" pitchFamily="34" charset="-122"/>
                <a:cs typeface="Calibri" pitchFamily="34" charset="-120"/>
              </a:rPr>
              <a:t>&gt;</a:t>
            </a:r>
            <a:endParaRPr lang="en-US" sz="2000" dirty="0"/>
          </a:p>
        </p:txBody>
      </p:sp>
      <p:sp>
        <p:nvSpPr>
          <p:cNvPr id="9" name="Shape 7"/>
          <p:cNvSpPr/>
          <p:nvPr/>
        </p:nvSpPr>
        <p:spPr>
          <a:xfrm>
            <a:off x="2578608" y="1188720"/>
            <a:ext cx="1874520" cy="1920240"/>
          </a:xfrm>
          <a:prstGeom prst="roundRect">
            <a:avLst>
              <a:gd name="adj" fmla="val 3902"/>
            </a:avLst>
          </a:prstGeom>
          <a:solidFill>
            <a:srgbClr val="FFFFFF"/>
          </a:solidFill>
          <a:ln w="9525">
            <a:solidFill>
              <a:srgbClr val="D5DEE9"/>
            </a:solidFill>
            <a:prstDash val="solid"/>
          </a:ln>
        </p:spPr>
        <p:txBody>
          <a:bodyPr/>
          <a:lstStyle/>
          <a:p>
            <a:endParaRPr lang="es-PE"/>
          </a:p>
        </p:txBody>
      </p:sp>
      <p:sp>
        <p:nvSpPr>
          <p:cNvPr id="10" name="Shape 8"/>
          <p:cNvSpPr/>
          <p:nvPr/>
        </p:nvSpPr>
        <p:spPr>
          <a:xfrm>
            <a:off x="2715768" y="1325880"/>
            <a:ext cx="384048" cy="384048"/>
          </a:xfrm>
          <a:prstGeom prst="ellipse">
            <a:avLst/>
          </a:prstGeom>
          <a:solidFill>
            <a:srgbClr val="DCE9F5"/>
          </a:solidFill>
          <a:ln w="12700">
            <a:solidFill>
              <a:srgbClr val="DCE9F5"/>
            </a:solidFill>
            <a:prstDash val="solid"/>
          </a:ln>
        </p:spPr>
        <p:txBody>
          <a:bodyPr/>
          <a:lstStyle/>
          <a:p>
            <a:endParaRPr lang="es-PE"/>
          </a:p>
        </p:txBody>
      </p:sp>
      <p:sp>
        <p:nvSpPr>
          <p:cNvPr id="11" name="Text 9"/>
          <p:cNvSpPr txBox="1"/>
          <p:nvPr/>
        </p:nvSpPr>
        <p:spPr>
          <a:xfrm>
            <a:off x="2715768" y="1325880"/>
            <a:ext cx="384048" cy="384048"/>
          </a:xfrm>
          <a:prstGeom prst="rect">
            <a:avLst/>
          </a:prstGeom>
          <a:noFill/>
          <a:ln/>
        </p:spPr>
        <p:txBody>
          <a:bodyPr wrap="square" lIns="0" tIns="0" rIns="0" bIns="0" rtlCol="0" anchor="ctr"/>
          <a:lstStyle/>
          <a:p>
            <a:pPr marL="0" indent="0" algn="ctr">
              <a:buNone/>
            </a:pPr>
            <a:r>
              <a:rPr lang="en-US" sz="1400" b="1" dirty="0">
                <a:solidFill>
                  <a:srgbClr val="0B1F3A"/>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2715768" y="1828800"/>
            <a:ext cx="1645920" cy="365760"/>
          </a:xfrm>
          <a:prstGeom prst="rect">
            <a:avLst/>
          </a:prstGeom>
          <a:noFill/>
          <a:ln/>
        </p:spPr>
        <p:txBody>
          <a:bodyPr wrap="square" lIns="0" tIns="0" rIns="0" bIns="0" rtlCol="0" anchor="t"/>
          <a:lstStyle/>
          <a:p>
            <a:pPr marL="0" indent="0">
              <a:buNone/>
            </a:pPr>
            <a:r>
              <a:rPr lang="en-US" sz="1700" b="1" dirty="0">
                <a:solidFill>
                  <a:srgbClr val="1F5C8B"/>
                </a:solidFill>
                <a:latin typeface="Cambria" pitchFamily="34" charset="0"/>
                <a:ea typeface="Cambria" pitchFamily="34" charset="-122"/>
                <a:cs typeface="Cambria" pitchFamily="34" charset="-120"/>
              </a:rPr>
              <a:t>Tráfico por hora</a:t>
            </a:r>
            <a:endParaRPr lang="en-US" sz="1700" dirty="0"/>
          </a:p>
        </p:txBody>
      </p:sp>
      <p:sp>
        <p:nvSpPr>
          <p:cNvPr id="13" name="Text 11"/>
          <p:cNvSpPr txBox="1"/>
          <p:nvPr/>
        </p:nvSpPr>
        <p:spPr>
          <a:xfrm>
            <a:off x="2715768" y="2240280"/>
            <a:ext cx="1645920" cy="822960"/>
          </a:xfrm>
          <a:prstGeom prst="rect">
            <a:avLst/>
          </a:prstGeom>
          <a:noFill/>
          <a:ln/>
        </p:spPr>
        <p:txBody>
          <a:bodyPr wrap="square" lIns="0" tIns="0" rIns="0" bIns="0" rtlCol="0" anchor="t"/>
          <a:lstStyle/>
          <a:p>
            <a:pPr marL="0" indent="0">
              <a:buNone/>
            </a:pPr>
            <a:r>
              <a:rPr lang="en-US" sz="1300" dirty="0">
                <a:solidFill>
                  <a:srgbClr val="1B2430"/>
                </a:solidFill>
                <a:latin typeface="Calibri" pitchFamily="34" charset="0"/>
                <a:ea typeface="Calibri" pitchFamily="34" charset="-122"/>
                <a:cs typeface="Calibri" pitchFamily="34" charset="-120"/>
              </a:rPr>
              <a:t>Entradas y salidas por negocio, fecha y hora</a:t>
            </a:r>
            <a:endParaRPr lang="en-US" sz="1300" dirty="0"/>
          </a:p>
        </p:txBody>
      </p:sp>
      <p:sp>
        <p:nvSpPr>
          <p:cNvPr id="14" name="Text 12"/>
          <p:cNvSpPr txBox="1"/>
          <p:nvPr/>
        </p:nvSpPr>
        <p:spPr>
          <a:xfrm>
            <a:off x="4471416" y="1920240"/>
            <a:ext cx="228600" cy="365760"/>
          </a:xfrm>
          <a:prstGeom prst="rect">
            <a:avLst/>
          </a:prstGeom>
          <a:noFill/>
          <a:ln/>
        </p:spPr>
        <p:txBody>
          <a:bodyPr wrap="square" lIns="0" tIns="0" rIns="0" bIns="0" rtlCol="0" anchor="t"/>
          <a:lstStyle/>
          <a:p>
            <a:pPr marL="0" indent="0" algn="ctr">
              <a:buNone/>
            </a:pPr>
            <a:r>
              <a:rPr lang="en-US" sz="2000" b="1" dirty="0">
                <a:solidFill>
                  <a:srgbClr val="F2A93B"/>
                </a:solidFill>
                <a:latin typeface="Calibri" pitchFamily="34" charset="0"/>
                <a:ea typeface="Calibri" pitchFamily="34" charset="-122"/>
                <a:cs typeface="Calibri" pitchFamily="34" charset="-120"/>
              </a:rPr>
              <a:t>&gt;</a:t>
            </a:r>
            <a:endParaRPr lang="en-US" sz="2000" dirty="0"/>
          </a:p>
        </p:txBody>
      </p:sp>
      <p:sp>
        <p:nvSpPr>
          <p:cNvPr id="15" name="Shape 13"/>
          <p:cNvSpPr/>
          <p:nvPr/>
        </p:nvSpPr>
        <p:spPr>
          <a:xfrm>
            <a:off x="4700016" y="1188720"/>
            <a:ext cx="1874520" cy="1920240"/>
          </a:xfrm>
          <a:prstGeom prst="roundRect">
            <a:avLst>
              <a:gd name="adj" fmla="val 3902"/>
            </a:avLst>
          </a:prstGeom>
          <a:solidFill>
            <a:srgbClr val="FFFFFF"/>
          </a:solidFill>
          <a:ln w="9525">
            <a:solidFill>
              <a:srgbClr val="D5DEE9"/>
            </a:solidFill>
            <a:prstDash val="solid"/>
          </a:ln>
        </p:spPr>
        <p:txBody>
          <a:bodyPr/>
          <a:lstStyle/>
          <a:p>
            <a:endParaRPr lang="es-PE"/>
          </a:p>
        </p:txBody>
      </p:sp>
      <p:sp>
        <p:nvSpPr>
          <p:cNvPr id="16" name="Shape 14"/>
          <p:cNvSpPr/>
          <p:nvPr/>
        </p:nvSpPr>
        <p:spPr>
          <a:xfrm>
            <a:off x="4837176" y="1325880"/>
            <a:ext cx="384048" cy="384048"/>
          </a:xfrm>
          <a:prstGeom prst="ellipse">
            <a:avLst/>
          </a:prstGeom>
          <a:solidFill>
            <a:srgbClr val="DCE9F5"/>
          </a:solidFill>
          <a:ln w="12700">
            <a:solidFill>
              <a:srgbClr val="DCE9F5"/>
            </a:solidFill>
            <a:prstDash val="solid"/>
          </a:ln>
        </p:spPr>
        <p:txBody>
          <a:bodyPr/>
          <a:lstStyle/>
          <a:p>
            <a:endParaRPr lang="es-PE"/>
          </a:p>
        </p:txBody>
      </p:sp>
      <p:sp>
        <p:nvSpPr>
          <p:cNvPr id="17" name="Text 15"/>
          <p:cNvSpPr txBox="1"/>
          <p:nvPr/>
        </p:nvSpPr>
        <p:spPr>
          <a:xfrm>
            <a:off x="4837176" y="1325880"/>
            <a:ext cx="384048" cy="384048"/>
          </a:xfrm>
          <a:prstGeom prst="rect">
            <a:avLst/>
          </a:prstGeom>
          <a:noFill/>
          <a:ln/>
        </p:spPr>
        <p:txBody>
          <a:bodyPr wrap="square" lIns="0" tIns="0" rIns="0" bIns="0" rtlCol="0" anchor="ctr"/>
          <a:lstStyle/>
          <a:p>
            <a:pPr marL="0" indent="0" algn="ctr">
              <a:buNone/>
            </a:pPr>
            <a:r>
              <a:rPr lang="en-US" sz="1400" b="1" dirty="0">
                <a:solidFill>
                  <a:srgbClr val="0B1F3A"/>
                </a:solidFill>
                <a:latin typeface="Calibri" pitchFamily="34" charset="0"/>
                <a:ea typeface="Calibri" pitchFamily="34" charset="-122"/>
                <a:cs typeface="Calibri" pitchFamily="34" charset="-120"/>
              </a:rPr>
              <a:t>3</a:t>
            </a:r>
            <a:endParaRPr lang="en-US" sz="1400" dirty="0"/>
          </a:p>
        </p:txBody>
      </p:sp>
      <p:sp>
        <p:nvSpPr>
          <p:cNvPr id="18" name="Text 16"/>
          <p:cNvSpPr txBox="1"/>
          <p:nvPr/>
        </p:nvSpPr>
        <p:spPr>
          <a:xfrm>
            <a:off x="4837176" y="1828800"/>
            <a:ext cx="1645920" cy="365760"/>
          </a:xfrm>
          <a:prstGeom prst="rect">
            <a:avLst/>
          </a:prstGeom>
          <a:noFill/>
          <a:ln/>
        </p:spPr>
        <p:txBody>
          <a:bodyPr wrap="square" lIns="0" tIns="0" rIns="0" bIns="0" rtlCol="0" anchor="t"/>
          <a:lstStyle/>
          <a:p>
            <a:pPr marL="0" indent="0">
              <a:buNone/>
            </a:pPr>
            <a:r>
              <a:rPr lang="en-US" sz="1700" b="1" dirty="0">
                <a:solidFill>
                  <a:srgbClr val="1F5C8B"/>
                </a:solidFill>
                <a:latin typeface="Cambria" pitchFamily="34" charset="0"/>
                <a:ea typeface="Cambria" pitchFamily="34" charset="-122"/>
                <a:cs typeface="Cambria" pitchFamily="34" charset="-120"/>
              </a:rPr>
              <a:t>Ventas</a:t>
            </a:r>
            <a:endParaRPr lang="en-US" sz="1700" dirty="0"/>
          </a:p>
        </p:txBody>
      </p:sp>
      <p:sp>
        <p:nvSpPr>
          <p:cNvPr id="19" name="Text 17"/>
          <p:cNvSpPr txBox="1"/>
          <p:nvPr/>
        </p:nvSpPr>
        <p:spPr>
          <a:xfrm>
            <a:off x="4837176" y="2240280"/>
            <a:ext cx="1645920" cy="822960"/>
          </a:xfrm>
          <a:prstGeom prst="rect">
            <a:avLst/>
          </a:prstGeom>
          <a:noFill/>
          <a:ln/>
        </p:spPr>
        <p:txBody>
          <a:bodyPr wrap="square" lIns="0" tIns="0" rIns="0" bIns="0" rtlCol="0" anchor="t"/>
          <a:lstStyle/>
          <a:p>
            <a:pPr marL="0" indent="0">
              <a:buNone/>
            </a:pPr>
            <a:r>
              <a:rPr lang="en-US" sz="1300" dirty="0">
                <a:solidFill>
                  <a:srgbClr val="1B2430"/>
                </a:solidFill>
                <a:latin typeface="Calibri" pitchFamily="34" charset="0"/>
                <a:ea typeface="Calibri" pitchFamily="34" charset="-122"/>
                <a:cs typeface="Calibri" pitchFamily="34" charset="-120"/>
              </a:rPr>
              <a:t>CSV: negocio, fecha, hora, monto en soles</a:t>
            </a:r>
            <a:endParaRPr lang="en-US" sz="1300" dirty="0"/>
          </a:p>
        </p:txBody>
      </p:sp>
      <p:sp>
        <p:nvSpPr>
          <p:cNvPr id="20" name="Text 18"/>
          <p:cNvSpPr txBox="1"/>
          <p:nvPr/>
        </p:nvSpPr>
        <p:spPr>
          <a:xfrm>
            <a:off x="6592824" y="1920240"/>
            <a:ext cx="228600" cy="365760"/>
          </a:xfrm>
          <a:prstGeom prst="rect">
            <a:avLst/>
          </a:prstGeom>
          <a:noFill/>
          <a:ln/>
        </p:spPr>
        <p:txBody>
          <a:bodyPr wrap="square" lIns="0" tIns="0" rIns="0" bIns="0" rtlCol="0" anchor="t"/>
          <a:lstStyle/>
          <a:p>
            <a:pPr marL="0" indent="0" algn="ctr">
              <a:buNone/>
            </a:pPr>
            <a:r>
              <a:rPr lang="en-US" sz="2000" b="1" dirty="0">
                <a:solidFill>
                  <a:srgbClr val="F2A93B"/>
                </a:solidFill>
                <a:latin typeface="Calibri" pitchFamily="34" charset="0"/>
                <a:ea typeface="Calibri" pitchFamily="34" charset="-122"/>
                <a:cs typeface="Calibri" pitchFamily="34" charset="-120"/>
              </a:rPr>
              <a:t>&gt;</a:t>
            </a:r>
            <a:endParaRPr lang="en-US" sz="2000" dirty="0"/>
          </a:p>
        </p:txBody>
      </p:sp>
      <p:sp>
        <p:nvSpPr>
          <p:cNvPr id="21" name="Shape 19"/>
          <p:cNvSpPr/>
          <p:nvPr/>
        </p:nvSpPr>
        <p:spPr>
          <a:xfrm>
            <a:off x="6821424" y="1188720"/>
            <a:ext cx="1874520" cy="1920240"/>
          </a:xfrm>
          <a:prstGeom prst="roundRect">
            <a:avLst>
              <a:gd name="adj" fmla="val 3902"/>
            </a:avLst>
          </a:prstGeom>
          <a:solidFill>
            <a:srgbClr val="FFFFFF"/>
          </a:solidFill>
          <a:ln w="9525">
            <a:solidFill>
              <a:srgbClr val="D5DEE9"/>
            </a:solidFill>
            <a:prstDash val="solid"/>
          </a:ln>
        </p:spPr>
        <p:txBody>
          <a:bodyPr/>
          <a:lstStyle/>
          <a:p>
            <a:endParaRPr lang="es-PE"/>
          </a:p>
        </p:txBody>
      </p:sp>
      <p:sp>
        <p:nvSpPr>
          <p:cNvPr id="22" name="Shape 20"/>
          <p:cNvSpPr/>
          <p:nvPr/>
        </p:nvSpPr>
        <p:spPr>
          <a:xfrm>
            <a:off x="6958584" y="1325880"/>
            <a:ext cx="384048" cy="384048"/>
          </a:xfrm>
          <a:prstGeom prst="ellipse">
            <a:avLst/>
          </a:prstGeom>
          <a:solidFill>
            <a:srgbClr val="F2A93B"/>
          </a:solidFill>
          <a:ln w="12700">
            <a:solidFill>
              <a:srgbClr val="F2A93B"/>
            </a:solidFill>
            <a:prstDash val="solid"/>
          </a:ln>
        </p:spPr>
        <p:txBody>
          <a:bodyPr/>
          <a:lstStyle/>
          <a:p>
            <a:endParaRPr lang="es-PE"/>
          </a:p>
        </p:txBody>
      </p:sp>
      <p:sp>
        <p:nvSpPr>
          <p:cNvPr id="23" name="Text 21"/>
          <p:cNvSpPr txBox="1"/>
          <p:nvPr/>
        </p:nvSpPr>
        <p:spPr>
          <a:xfrm>
            <a:off x="6958584" y="1325880"/>
            <a:ext cx="384048" cy="384048"/>
          </a:xfrm>
          <a:prstGeom prst="rect">
            <a:avLst/>
          </a:prstGeom>
          <a:noFill/>
          <a:ln/>
        </p:spPr>
        <p:txBody>
          <a:bodyPr wrap="square" lIns="0" tIns="0" rIns="0" bIns="0" rtlCol="0" anchor="ctr"/>
          <a:lstStyle/>
          <a:p>
            <a:pPr marL="0" indent="0" algn="ctr">
              <a:buNone/>
            </a:pPr>
            <a:r>
              <a:rPr lang="en-US" sz="1400" b="1" dirty="0">
                <a:solidFill>
                  <a:srgbClr val="0B1F3A"/>
                </a:solidFill>
                <a:latin typeface="Calibri" pitchFamily="34" charset="0"/>
                <a:ea typeface="Calibri" pitchFamily="34" charset="-122"/>
                <a:cs typeface="Calibri" pitchFamily="34" charset="-120"/>
              </a:rPr>
              <a:t>4</a:t>
            </a:r>
            <a:endParaRPr lang="en-US" sz="1400" dirty="0"/>
          </a:p>
        </p:txBody>
      </p:sp>
      <p:sp>
        <p:nvSpPr>
          <p:cNvPr id="24" name="Text 22"/>
          <p:cNvSpPr txBox="1"/>
          <p:nvPr/>
        </p:nvSpPr>
        <p:spPr>
          <a:xfrm>
            <a:off x="6958584" y="1828800"/>
            <a:ext cx="1645920" cy="365760"/>
          </a:xfrm>
          <a:prstGeom prst="rect">
            <a:avLst/>
          </a:prstGeom>
          <a:noFill/>
          <a:ln/>
        </p:spPr>
        <p:txBody>
          <a:bodyPr wrap="square" lIns="0" tIns="0" rIns="0" bIns="0" rtlCol="0" anchor="t"/>
          <a:lstStyle/>
          <a:p>
            <a:pPr marL="0" indent="0">
              <a:buNone/>
            </a:pPr>
            <a:r>
              <a:rPr lang="en-US" sz="1700" b="1" dirty="0">
                <a:solidFill>
                  <a:srgbClr val="1F5C8B"/>
                </a:solidFill>
                <a:latin typeface="Cambria" pitchFamily="34" charset="0"/>
                <a:ea typeface="Cambria" pitchFamily="34" charset="-122"/>
                <a:cs typeface="Cambria" pitchFamily="34" charset="-120"/>
              </a:rPr>
              <a:t>Proyección</a:t>
            </a:r>
            <a:endParaRPr lang="en-US" sz="1700" dirty="0"/>
          </a:p>
        </p:txBody>
      </p:sp>
      <p:sp>
        <p:nvSpPr>
          <p:cNvPr id="25" name="Text 23"/>
          <p:cNvSpPr txBox="1"/>
          <p:nvPr/>
        </p:nvSpPr>
        <p:spPr>
          <a:xfrm>
            <a:off x="6958584" y="2240280"/>
            <a:ext cx="1645920" cy="822960"/>
          </a:xfrm>
          <a:prstGeom prst="rect">
            <a:avLst/>
          </a:prstGeom>
          <a:noFill/>
          <a:ln/>
        </p:spPr>
        <p:txBody>
          <a:bodyPr wrap="square" lIns="0" tIns="0" rIns="0" bIns="0" rtlCol="0" anchor="t"/>
          <a:lstStyle/>
          <a:p>
            <a:pPr marL="0" indent="0">
              <a:buNone/>
            </a:pPr>
            <a:r>
              <a:rPr lang="en-US" sz="1300" dirty="0">
                <a:solidFill>
                  <a:srgbClr val="1B2430"/>
                </a:solidFill>
                <a:latin typeface="Calibri" pitchFamily="34" charset="0"/>
                <a:ea typeface="Calibri" pitchFamily="34" charset="-122"/>
                <a:cs typeface="Calibri" pitchFamily="34" charset="-120"/>
              </a:rPr>
              <a:t>Ingreso por entrada de días anteriores</a:t>
            </a:r>
            <a:endParaRPr lang="en-US" sz="1300" dirty="0"/>
          </a:p>
        </p:txBody>
      </p:sp>
      <p:sp>
        <p:nvSpPr>
          <p:cNvPr id="26" name="Text 24"/>
          <p:cNvSpPr txBox="1"/>
          <p:nvPr/>
        </p:nvSpPr>
        <p:spPr>
          <a:xfrm>
            <a:off x="457200" y="3383280"/>
            <a:ext cx="822960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Un negocio puede tener varias puertas, incluso en cámaras distintas.</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El vínculo entre tráfico y ventas usa negocio_id, no el nombre.</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Las grabaciones necesitan fecha y zona horaria para cruzarse con ventas reales.</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Repetir un análisis no duplica entradas: se usa la sesión de mayor cobertura.</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2800" b="1" dirty="0">
                <a:solidFill>
                  <a:srgbClr val="0B1F3A"/>
                </a:solidFill>
                <a:latin typeface="Cambria" pitchFamily="34" charset="0"/>
                <a:ea typeface="Cambria" pitchFamily="34" charset="-122"/>
                <a:cs typeface="Cambria" pitchFamily="34" charset="-120"/>
              </a:rPr>
              <a:t>Análisis predictivo: proyección de ventas</a:t>
            </a:r>
            <a:endParaRPr lang="en-US" sz="2800" dirty="0"/>
          </a:p>
        </p:txBody>
      </p:sp>
      <p:sp>
        <p:nvSpPr>
          <p:cNvPr id="3" name="Shape 1"/>
          <p:cNvSpPr/>
          <p:nvPr/>
        </p:nvSpPr>
        <p:spPr>
          <a:xfrm>
            <a:off x="457200" y="1143000"/>
            <a:ext cx="4023360" cy="841248"/>
          </a:xfrm>
          <a:prstGeom prst="roundRect">
            <a:avLst>
              <a:gd name="adj" fmla="val 8696"/>
            </a:avLst>
          </a:prstGeom>
          <a:solidFill>
            <a:srgbClr val="F4F7FB"/>
          </a:solidFill>
          <a:ln w="9525">
            <a:solidFill>
              <a:srgbClr val="D5DEE9"/>
            </a:solidFill>
            <a:prstDash val="solid"/>
          </a:ln>
        </p:spPr>
        <p:txBody>
          <a:bodyPr/>
          <a:lstStyle/>
          <a:p>
            <a:endParaRPr lang="es-PE"/>
          </a:p>
        </p:txBody>
      </p:sp>
      <p:sp>
        <p:nvSpPr>
          <p:cNvPr id="4" name="Shape 2"/>
          <p:cNvSpPr/>
          <p:nvPr/>
        </p:nvSpPr>
        <p:spPr>
          <a:xfrm>
            <a:off x="594360" y="1371600"/>
            <a:ext cx="384048" cy="384048"/>
          </a:xfrm>
          <a:prstGeom prst="ellipse">
            <a:avLst/>
          </a:prstGeom>
          <a:solidFill>
            <a:srgbClr val="F2A93B"/>
          </a:solidFill>
          <a:ln w="12700">
            <a:solidFill>
              <a:srgbClr val="F2A93B"/>
            </a:solidFill>
            <a:prstDash val="solid"/>
          </a:ln>
        </p:spPr>
        <p:txBody>
          <a:bodyPr/>
          <a:lstStyle/>
          <a:p>
            <a:endParaRPr lang="es-PE"/>
          </a:p>
        </p:txBody>
      </p:sp>
      <p:sp>
        <p:nvSpPr>
          <p:cNvPr id="5" name="Text 3"/>
          <p:cNvSpPr txBox="1"/>
          <p:nvPr/>
        </p:nvSpPr>
        <p:spPr>
          <a:xfrm>
            <a:off x="594360" y="1371600"/>
            <a:ext cx="384048" cy="384048"/>
          </a:xfrm>
          <a:prstGeom prst="rect">
            <a:avLst/>
          </a:prstGeom>
          <a:noFill/>
          <a:ln/>
        </p:spPr>
        <p:txBody>
          <a:bodyPr wrap="square" lIns="0" tIns="0" rIns="0" bIns="0" rtlCol="0" anchor="ctr"/>
          <a:lstStyle/>
          <a:p>
            <a:pPr marL="0" indent="0" algn="ctr">
              <a:buNone/>
            </a:pPr>
            <a:r>
              <a:rPr lang="en-US" sz="1400" b="1" dirty="0">
                <a:solidFill>
                  <a:srgbClr val="0B1F3A"/>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143000" y="1234440"/>
            <a:ext cx="3200400" cy="292608"/>
          </a:xfrm>
          <a:prstGeom prst="rect">
            <a:avLst/>
          </a:prstGeom>
          <a:noFill/>
          <a:ln/>
        </p:spPr>
        <p:txBody>
          <a:bodyPr wrap="square" lIns="0" tIns="0" rIns="0" bIns="0" rtlCol="0" anchor="t"/>
          <a:lstStyle/>
          <a:p>
            <a:pPr marL="0" indent="0">
              <a:buNone/>
            </a:pPr>
            <a:r>
              <a:rPr lang="en-US" sz="1500" b="1" dirty="0">
                <a:solidFill>
                  <a:srgbClr val="0B1F3A"/>
                </a:solidFill>
                <a:latin typeface="Cambria" pitchFamily="34" charset="0"/>
                <a:ea typeface="Cambria" pitchFamily="34" charset="-122"/>
                <a:cs typeface="Cambria" pitchFamily="34" charset="-120"/>
              </a:rPr>
              <a:t>Historial</a:t>
            </a:r>
            <a:endParaRPr lang="en-US" sz="1500" dirty="0"/>
          </a:p>
        </p:txBody>
      </p:sp>
      <p:sp>
        <p:nvSpPr>
          <p:cNvPr id="7" name="Text 5"/>
          <p:cNvSpPr txBox="1"/>
          <p:nvPr/>
        </p:nvSpPr>
        <p:spPr>
          <a:xfrm>
            <a:off x="1143000" y="1545336"/>
            <a:ext cx="3200400" cy="411480"/>
          </a:xfrm>
          <a:prstGeom prst="rect">
            <a:avLst/>
          </a:prstGeom>
          <a:noFill/>
          <a:ln/>
        </p:spPr>
        <p:txBody>
          <a:bodyPr wrap="square" lIns="0" tIns="0" rIns="0" bIns="0" rtlCol="0" anchor="t"/>
          <a:lstStyle/>
          <a:p>
            <a:pPr marL="0" indent="0">
              <a:buNone/>
            </a:pPr>
            <a:r>
              <a:rPr lang="en-US" sz="1200" dirty="0">
                <a:solidFill>
                  <a:srgbClr val="1B2430"/>
                </a:solidFill>
                <a:latin typeface="Calibri" pitchFamily="34" charset="0"/>
                <a:ea typeface="Calibri" pitchFamily="34" charset="-122"/>
                <a:cs typeface="Calibri" pitchFamily="34" charset="-120"/>
              </a:rPr>
              <a:t>Días anteriores con el mismo día de semana y la misma hora.</a:t>
            </a:r>
            <a:endParaRPr lang="en-US" sz="1200" dirty="0"/>
          </a:p>
        </p:txBody>
      </p:sp>
      <p:sp>
        <p:nvSpPr>
          <p:cNvPr id="8" name="Shape 6"/>
          <p:cNvSpPr/>
          <p:nvPr/>
        </p:nvSpPr>
        <p:spPr>
          <a:xfrm>
            <a:off x="457200" y="2103120"/>
            <a:ext cx="4023360" cy="841248"/>
          </a:xfrm>
          <a:prstGeom prst="roundRect">
            <a:avLst>
              <a:gd name="adj" fmla="val 8696"/>
            </a:avLst>
          </a:prstGeom>
          <a:solidFill>
            <a:srgbClr val="F4F7FB"/>
          </a:solidFill>
          <a:ln w="9525">
            <a:solidFill>
              <a:srgbClr val="D5DEE9"/>
            </a:solidFill>
            <a:prstDash val="solid"/>
          </a:ln>
        </p:spPr>
        <p:txBody>
          <a:bodyPr/>
          <a:lstStyle/>
          <a:p>
            <a:endParaRPr lang="es-PE"/>
          </a:p>
        </p:txBody>
      </p:sp>
      <p:sp>
        <p:nvSpPr>
          <p:cNvPr id="9" name="Shape 7"/>
          <p:cNvSpPr/>
          <p:nvPr/>
        </p:nvSpPr>
        <p:spPr>
          <a:xfrm>
            <a:off x="594360" y="2331720"/>
            <a:ext cx="384048" cy="384048"/>
          </a:xfrm>
          <a:prstGeom prst="ellipse">
            <a:avLst/>
          </a:prstGeom>
          <a:solidFill>
            <a:srgbClr val="F2A93B"/>
          </a:solidFill>
          <a:ln w="12700">
            <a:solidFill>
              <a:srgbClr val="F2A93B"/>
            </a:solidFill>
            <a:prstDash val="solid"/>
          </a:ln>
        </p:spPr>
        <p:txBody>
          <a:bodyPr/>
          <a:lstStyle/>
          <a:p>
            <a:endParaRPr lang="es-PE"/>
          </a:p>
        </p:txBody>
      </p:sp>
      <p:sp>
        <p:nvSpPr>
          <p:cNvPr id="10" name="Text 8"/>
          <p:cNvSpPr txBox="1"/>
          <p:nvPr/>
        </p:nvSpPr>
        <p:spPr>
          <a:xfrm>
            <a:off x="594360" y="2331720"/>
            <a:ext cx="384048" cy="384048"/>
          </a:xfrm>
          <a:prstGeom prst="rect">
            <a:avLst/>
          </a:prstGeom>
          <a:noFill/>
          <a:ln/>
        </p:spPr>
        <p:txBody>
          <a:bodyPr wrap="square" lIns="0" tIns="0" rIns="0" bIns="0" rtlCol="0" anchor="ctr"/>
          <a:lstStyle/>
          <a:p>
            <a:pPr marL="0" indent="0" algn="ctr">
              <a:buNone/>
            </a:pPr>
            <a:r>
              <a:rPr lang="en-US" sz="1400" b="1" dirty="0">
                <a:solidFill>
                  <a:srgbClr val="0B1F3A"/>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143000" y="2194560"/>
            <a:ext cx="3200400" cy="292608"/>
          </a:xfrm>
          <a:prstGeom prst="rect">
            <a:avLst/>
          </a:prstGeom>
          <a:noFill/>
          <a:ln/>
        </p:spPr>
        <p:txBody>
          <a:bodyPr wrap="square" lIns="0" tIns="0" rIns="0" bIns="0" rtlCol="0" anchor="t"/>
          <a:lstStyle/>
          <a:p>
            <a:pPr marL="0" indent="0">
              <a:buNone/>
            </a:pPr>
            <a:r>
              <a:rPr lang="en-US" sz="1500" b="1" dirty="0">
                <a:solidFill>
                  <a:srgbClr val="0B1F3A"/>
                </a:solidFill>
                <a:latin typeface="Cambria" pitchFamily="34" charset="0"/>
                <a:ea typeface="Cambria" pitchFamily="34" charset="-122"/>
                <a:cs typeface="Cambria" pitchFamily="34" charset="-120"/>
              </a:rPr>
              <a:t>Ingreso por entrada</a:t>
            </a:r>
            <a:endParaRPr lang="en-US" sz="1500" dirty="0"/>
          </a:p>
        </p:txBody>
      </p:sp>
      <p:sp>
        <p:nvSpPr>
          <p:cNvPr id="12" name="Text 10"/>
          <p:cNvSpPr txBox="1"/>
          <p:nvPr/>
        </p:nvSpPr>
        <p:spPr>
          <a:xfrm>
            <a:off x="1143000" y="2505456"/>
            <a:ext cx="3200400" cy="411480"/>
          </a:xfrm>
          <a:prstGeom prst="rect">
            <a:avLst/>
          </a:prstGeom>
          <a:noFill/>
          <a:ln/>
        </p:spPr>
        <p:txBody>
          <a:bodyPr wrap="square" lIns="0" tIns="0" rIns="0" bIns="0" rtlCol="0" anchor="t"/>
          <a:lstStyle/>
          <a:p>
            <a:pPr marL="0" indent="0">
              <a:buNone/>
            </a:pPr>
            <a:r>
              <a:rPr lang="en-US" sz="1200" dirty="0">
                <a:solidFill>
                  <a:srgbClr val="1B2430"/>
                </a:solidFill>
                <a:latin typeface="Calibri" pitchFamily="34" charset="0"/>
                <a:ea typeface="Calibri" pitchFamily="34" charset="-122"/>
                <a:cs typeface="Calibri" pitchFamily="34" charset="-120"/>
              </a:rPr>
              <a:t>Venta dividida entre entradas de cada día; se toma la mediana.</a:t>
            </a:r>
            <a:endParaRPr lang="en-US" sz="1200" dirty="0"/>
          </a:p>
        </p:txBody>
      </p:sp>
      <p:sp>
        <p:nvSpPr>
          <p:cNvPr id="13" name="Shape 11"/>
          <p:cNvSpPr/>
          <p:nvPr/>
        </p:nvSpPr>
        <p:spPr>
          <a:xfrm>
            <a:off x="457200" y="3063240"/>
            <a:ext cx="4023360" cy="841248"/>
          </a:xfrm>
          <a:prstGeom prst="roundRect">
            <a:avLst>
              <a:gd name="adj" fmla="val 8696"/>
            </a:avLst>
          </a:prstGeom>
          <a:solidFill>
            <a:srgbClr val="F4F7FB"/>
          </a:solidFill>
          <a:ln w="9525">
            <a:solidFill>
              <a:srgbClr val="D5DEE9"/>
            </a:solidFill>
            <a:prstDash val="solid"/>
          </a:ln>
        </p:spPr>
        <p:txBody>
          <a:bodyPr/>
          <a:lstStyle/>
          <a:p>
            <a:endParaRPr lang="es-PE"/>
          </a:p>
        </p:txBody>
      </p:sp>
      <p:sp>
        <p:nvSpPr>
          <p:cNvPr id="14" name="Shape 12"/>
          <p:cNvSpPr/>
          <p:nvPr/>
        </p:nvSpPr>
        <p:spPr>
          <a:xfrm>
            <a:off x="594360" y="3291840"/>
            <a:ext cx="384048" cy="384048"/>
          </a:xfrm>
          <a:prstGeom prst="ellipse">
            <a:avLst/>
          </a:prstGeom>
          <a:solidFill>
            <a:srgbClr val="F2A93B"/>
          </a:solidFill>
          <a:ln w="12700">
            <a:solidFill>
              <a:srgbClr val="F2A93B"/>
            </a:solidFill>
            <a:prstDash val="solid"/>
          </a:ln>
        </p:spPr>
        <p:txBody>
          <a:bodyPr/>
          <a:lstStyle/>
          <a:p>
            <a:endParaRPr lang="es-PE"/>
          </a:p>
        </p:txBody>
      </p:sp>
      <p:sp>
        <p:nvSpPr>
          <p:cNvPr id="15" name="Text 13"/>
          <p:cNvSpPr txBox="1"/>
          <p:nvPr/>
        </p:nvSpPr>
        <p:spPr>
          <a:xfrm>
            <a:off x="594360" y="3291840"/>
            <a:ext cx="384048" cy="384048"/>
          </a:xfrm>
          <a:prstGeom prst="rect">
            <a:avLst/>
          </a:prstGeom>
          <a:noFill/>
          <a:ln/>
        </p:spPr>
        <p:txBody>
          <a:bodyPr wrap="square" lIns="0" tIns="0" rIns="0" bIns="0" rtlCol="0" anchor="ctr"/>
          <a:lstStyle/>
          <a:p>
            <a:pPr marL="0" indent="0" algn="ctr">
              <a:buNone/>
            </a:pPr>
            <a:r>
              <a:rPr lang="en-US" sz="1400" b="1" dirty="0">
                <a:solidFill>
                  <a:srgbClr val="0B1F3A"/>
                </a:solidFill>
                <a:latin typeface="Calibri" pitchFamily="34" charset="0"/>
                <a:ea typeface="Calibri" pitchFamily="34" charset="-122"/>
                <a:cs typeface="Calibri" pitchFamily="34" charset="-120"/>
              </a:rPr>
              <a:t>3</a:t>
            </a:r>
            <a:endParaRPr lang="en-US" sz="1400" dirty="0"/>
          </a:p>
        </p:txBody>
      </p:sp>
      <p:sp>
        <p:nvSpPr>
          <p:cNvPr id="16" name="Text 14"/>
          <p:cNvSpPr txBox="1"/>
          <p:nvPr/>
        </p:nvSpPr>
        <p:spPr>
          <a:xfrm>
            <a:off x="1143000" y="3154680"/>
            <a:ext cx="3200400" cy="292608"/>
          </a:xfrm>
          <a:prstGeom prst="rect">
            <a:avLst/>
          </a:prstGeom>
          <a:noFill/>
          <a:ln/>
        </p:spPr>
        <p:txBody>
          <a:bodyPr wrap="square" lIns="0" tIns="0" rIns="0" bIns="0" rtlCol="0" anchor="t"/>
          <a:lstStyle/>
          <a:p>
            <a:pPr marL="0" indent="0">
              <a:buNone/>
            </a:pPr>
            <a:r>
              <a:rPr lang="en-US" sz="1500" b="1" dirty="0">
                <a:solidFill>
                  <a:srgbClr val="0B1F3A"/>
                </a:solidFill>
                <a:latin typeface="Cambria" pitchFamily="34" charset="0"/>
                <a:ea typeface="Cambria" pitchFamily="34" charset="-122"/>
                <a:cs typeface="Cambria" pitchFamily="34" charset="-120"/>
              </a:rPr>
              <a:t>Proyección</a:t>
            </a:r>
            <a:endParaRPr lang="en-US" sz="1500" dirty="0"/>
          </a:p>
        </p:txBody>
      </p:sp>
      <p:sp>
        <p:nvSpPr>
          <p:cNvPr id="17" name="Text 15"/>
          <p:cNvSpPr txBox="1"/>
          <p:nvPr/>
        </p:nvSpPr>
        <p:spPr>
          <a:xfrm>
            <a:off x="1143000" y="3465576"/>
            <a:ext cx="3200400" cy="411480"/>
          </a:xfrm>
          <a:prstGeom prst="rect">
            <a:avLst/>
          </a:prstGeom>
          <a:noFill/>
          <a:ln/>
        </p:spPr>
        <p:txBody>
          <a:bodyPr wrap="square" lIns="0" tIns="0" rIns="0" bIns="0" rtlCol="0" anchor="t"/>
          <a:lstStyle/>
          <a:p>
            <a:pPr marL="0" indent="0">
              <a:buNone/>
            </a:pPr>
            <a:r>
              <a:rPr lang="en-US" sz="1200" dirty="0">
                <a:solidFill>
                  <a:srgbClr val="1B2430"/>
                </a:solidFill>
                <a:latin typeface="Calibri" pitchFamily="34" charset="0"/>
                <a:ea typeface="Calibri" pitchFamily="34" charset="-122"/>
                <a:cs typeface="Calibri" pitchFamily="34" charset="-120"/>
              </a:rPr>
              <a:t>Mediana multiplicada por las entradas de la hora consultada.</a:t>
            </a:r>
            <a:endParaRPr lang="en-US" sz="1200" dirty="0"/>
          </a:p>
        </p:txBody>
      </p:sp>
      <p:sp>
        <p:nvSpPr>
          <p:cNvPr id="18" name="Shape 16"/>
          <p:cNvSpPr/>
          <p:nvPr/>
        </p:nvSpPr>
        <p:spPr>
          <a:xfrm>
            <a:off x="457200" y="4069080"/>
            <a:ext cx="4023360" cy="777240"/>
          </a:xfrm>
          <a:prstGeom prst="roundRect">
            <a:avLst>
              <a:gd name="adj" fmla="val 9412"/>
            </a:avLst>
          </a:prstGeom>
          <a:solidFill>
            <a:srgbClr val="0B1F3A"/>
          </a:solidFill>
          <a:ln w="9525">
            <a:solidFill>
              <a:srgbClr val="0B1F3A"/>
            </a:solidFill>
            <a:prstDash val="solid"/>
          </a:ln>
        </p:spPr>
        <p:txBody>
          <a:bodyPr/>
          <a:lstStyle/>
          <a:p>
            <a:endParaRPr lang="es-PE"/>
          </a:p>
        </p:txBody>
      </p:sp>
      <p:sp>
        <p:nvSpPr>
          <p:cNvPr id="19" name="Text 17"/>
          <p:cNvSpPr txBox="1"/>
          <p:nvPr/>
        </p:nvSpPr>
        <p:spPr>
          <a:xfrm>
            <a:off x="640080" y="4160520"/>
            <a:ext cx="3657600" cy="5943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Requisitos: al menos 3 días previos y tráfico casi completo (55 min por hora).</a:t>
            </a:r>
            <a:endParaRPr lang="en-US" sz="1300" dirty="0"/>
          </a:p>
        </p:txBody>
      </p:sp>
      <p:graphicFrame>
        <p:nvGraphicFramePr>
          <p:cNvPr id="20" name="Chart 0"/>
          <p:cNvGraphicFramePr/>
          <p:nvPr/>
        </p:nvGraphicFramePr>
        <p:xfrm>
          <a:off x="4709160" y="1097280"/>
          <a:ext cx="402336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21" name="Text 18"/>
          <p:cNvSpPr txBox="1"/>
          <p:nvPr/>
        </p:nvSpPr>
        <p:spPr>
          <a:xfrm>
            <a:off x="4709160" y="4343400"/>
            <a:ext cx="4023360" cy="502920"/>
          </a:xfrm>
          <a:prstGeom prst="rect">
            <a:avLst/>
          </a:prstGeom>
          <a:noFill/>
          <a:ln/>
        </p:spPr>
        <p:txBody>
          <a:bodyPr wrap="square" lIns="0" tIns="0" rIns="0" bIns="0" rtlCol="0" anchor="t"/>
          <a:lstStyle/>
          <a:p>
            <a:pPr marL="0" indent="0">
              <a:buNone/>
            </a:pPr>
            <a:r>
              <a:rPr lang="en-US" sz="1100" dirty="0">
                <a:solidFill>
                  <a:srgbClr val="5B6776"/>
                </a:solidFill>
                <a:latin typeface="Calibri" pitchFamily="34" charset="0"/>
                <a:ea typeface="Calibri" pitchFamily="34" charset="-122"/>
                <a:cs typeface="Calibri" pitchFamily="34" charset="-120"/>
              </a:rPr>
              <a:t>Datos sintéticos: 21,25 soles por entrada. Ejercitan el cálculo, no son ventas reales.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F3A"/>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Pronóstico de la siguiente hora y confianza</a:t>
            </a:r>
            <a:endParaRPr lang="en-US" sz="2800" dirty="0"/>
          </a:p>
        </p:txBody>
      </p:sp>
      <p:sp>
        <p:nvSpPr>
          <p:cNvPr id="3" name="Text 1"/>
          <p:cNvSpPr txBox="1"/>
          <p:nvPr/>
        </p:nvSpPr>
        <p:spPr>
          <a:xfrm>
            <a:off x="457200" y="1097280"/>
            <a:ext cx="8229600" cy="777240"/>
          </a:xfrm>
          <a:prstGeom prst="rect">
            <a:avLst/>
          </a:prstGeom>
          <a:noFill/>
          <a:ln/>
        </p:spPr>
        <p:txBody>
          <a:bodyPr wrap="square" lIns="0" tIns="0" rIns="0" bIns="0" rtlCol="0" anchor="t"/>
          <a:lstStyle/>
          <a:p>
            <a:pPr marL="0" indent="0">
              <a:buNone/>
            </a:pPr>
            <a:r>
              <a:rPr lang="en-US" sz="1500" dirty="0">
                <a:solidFill>
                  <a:srgbClr val="DCE9F5"/>
                </a:solidFill>
                <a:latin typeface="Calibri" pitchFamily="34" charset="0"/>
                <a:ea typeface="Calibri" pitchFamily="34" charset="-122"/>
                <a:cs typeface="Calibri" pitchFamily="34" charset="-120"/>
              </a:rPr>
              <a:t>El sistema estima primero cuántas personas entrarán en la próxima hora y luego cuánto venderían. Usa la mediana de entradas de la misma hora y el mismo día de semana.</a:t>
            </a:r>
            <a:endParaRPr lang="en-US" sz="1500" dirty="0"/>
          </a:p>
        </p:txBody>
      </p:sp>
      <p:sp>
        <p:nvSpPr>
          <p:cNvPr id="4" name="Shape 2"/>
          <p:cNvSpPr/>
          <p:nvPr/>
        </p:nvSpPr>
        <p:spPr>
          <a:xfrm>
            <a:off x="457200" y="2103120"/>
            <a:ext cx="2651760" cy="1828800"/>
          </a:xfrm>
          <a:prstGeom prst="roundRect">
            <a:avLst>
              <a:gd name="adj" fmla="val 4000"/>
            </a:avLst>
          </a:prstGeom>
          <a:solidFill>
            <a:srgbClr val="13315A"/>
          </a:solidFill>
          <a:ln w="9525">
            <a:solidFill>
              <a:srgbClr val="13315A"/>
            </a:solidFill>
            <a:prstDash val="solid"/>
          </a:ln>
        </p:spPr>
        <p:txBody>
          <a:bodyPr/>
          <a:lstStyle/>
          <a:p>
            <a:endParaRPr lang="es-PE"/>
          </a:p>
        </p:txBody>
      </p:sp>
      <p:sp>
        <p:nvSpPr>
          <p:cNvPr id="5" name="Text 3"/>
          <p:cNvSpPr txBox="1"/>
          <p:nvPr/>
        </p:nvSpPr>
        <p:spPr>
          <a:xfrm>
            <a:off x="640080" y="2194560"/>
            <a:ext cx="2286000" cy="731520"/>
          </a:xfrm>
          <a:prstGeom prst="rect">
            <a:avLst/>
          </a:prstGeom>
          <a:noFill/>
          <a:ln/>
        </p:spPr>
        <p:txBody>
          <a:bodyPr wrap="square" lIns="0" tIns="0" rIns="0" bIns="0" rtlCol="0" anchor="ctr"/>
          <a:lstStyle/>
          <a:p>
            <a:pPr marL="0" indent="0">
              <a:buNone/>
            </a:pPr>
            <a:r>
              <a:rPr lang="en-US" sz="3400" b="1" dirty="0">
                <a:solidFill>
                  <a:srgbClr val="F2A93B"/>
                </a:solidFill>
                <a:latin typeface="Cambria" pitchFamily="34" charset="0"/>
                <a:ea typeface="Cambria" pitchFamily="34" charset="-122"/>
                <a:cs typeface="Cambria" pitchFamily="34" charset="-120"/>
              </a:rPr>
              <a:t>7 o más</a:t>
            </a:r>
            <a:endParaRPr lang="en-US" sz="3400" dirty="0"/>
          </a:p>
        </p:txBody>
      </p:sp>
      <p:sp>
        <p:nvSpPr>
          <p:cNvPr id="6" name="Text 4"/>
          <p:cNvSpPr txBox="1"/>
          <p:nvPr/>
        </p:nvSpPr>
        <p:spPr>
          <a:xfrm>
            <a:off x="640080" y="2926080"/>
            <a:ext cx="2286000" cy="320040"/>
          </a:xfrm>
          <a:prstGeom prst="rect">
            <a:avLst/>
          </a:prstGeom>
          <a:noFill/>
          <a:ln/>
        </p:spPr>
        <p:txBody>
          <a:bodyPr wrap="square" lIns="0" tIns="0" rIns="0" bIns="0" rtlCol="0" anchor="t"/>
          <a:lstStyle/>
          <a:p>
            <a:pPr marL="0" indent="0">
              <a:buNone/>
            </a:pPr>
            <a:r>
              <a:rPr lang="en-US" sz="1300" dirty="0">
                <a:solidFill>
                  <a:srgbClr val="DCE9F5"/>
                </a:solidFill>
                <a:latin typeface="Calibri" pitchFamily="34" charset="0"/>
                <a:ea typeface="Calibri" pitchFamily="34" charset="-122"/>
                <a:cs typeface="Calibri" pitchFamily="34" charset="-120"/>
              </a:rPr>
              <a:t>días de historial</a:t>
            </a:r>
            <a:endParaRPr lang="en-US" sz="1300" dirty="0"/>
          </a:p>
        </p:txBody>
      </p:sp>
      <p:sp>
        <p:nvSpPr>
          <p:cNvPr id="7" name="Text 5"/>
          <p:cNvSpPr txBox="1"/>
          <p:nvPr/>
        </p:nvSpPr>
        <p:spPr>
          <a:xfrm>
            <a:off x="640080" y="3337560"/>
            <a:ext cx="2286000" cy="50292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Confianza alta</a:t>
            </a:r>
            <a:endParaRPr lang="en-US" sz="1500" dirty="0"/>
          </a:p>
        </p:txBody>
      </p:sp>
      <p:sp>
        <p:nvSpPr>
          <p:cNvPr id="8" name="Shape 6"/>
          <p:cNvSpPr/>
          <p:nvPr/>
        </p:nvSpPr>
        <p:spPr>
          <a:xfrm>
            <a:off x="3246120" y="2103120"/>
            <a:ext cx="2651760" cy="1828800"/>
          </a:xfrm>
          <a:prstGeom prst="roundRect">
            <a:avLst>
              <a:gd name="adj" fmla="val 4000"/>
            </a:avLst>
          </a:prstGeom>
          <a:solidFill>
            <a:srgbClr val="13315A"/>
          </a:solidFill>
          <a:ln w="9525">
            <a:solidFill>
              <a:srgbClr val="13315A"/>
            </a:solidFill>
            <a:prstDash val="solid"/>
          </a:ln>
        </p:spPr>
        <p:txBody>
          <a:bodyPr/>
          <a:lstStyle/>
          <a:p>
            <a:endParaRPr lang="es-PE"/>
          </a:p>
        </p:txBody>
      </p:sp>
      <p:sp>
        <p:nvSpPr>
          <p:cNvPr id="9" name="Text 7"/>
          <p:cNvSpPr txBox="1"/>
          <p:nvPr/>
        </p:nvSpPr>
        <p:spPr>
          <a:xfrm>
            <a:off x="3429000" y="2194560"/>
            <a:ext cx="2286000" cy="731520"/>
          </a:xfrm>
          <a:prstGeom prst="rect">
            <a:avLst/>
          </a:prstGeom>
          <a:noFill/>
          <a:ln/>
        </p:spPr>
        <p:txBody>
          <a:bodyPr wrap="square" lIns="0" tIns="0" rIns="0" bIns="0" rtlCol="0" anchor="ctr"/>
          <a:lstStyle/>
          <a:p>
            <a:pPr marL="0" indent="0">
              <a:buNone/>
            </a:pPr>
            <a:r>
              <a:rPr lang="en-US" sz="3400" b="1" dirty="0">
                <a:solidFill>
                  <a:srgbClr val="F6C878"/>
                </a:solidFill>
                <a:latin typeface="Cambria" pitchFamily="34" charset="0"/>
                <a:ea typeface="Cambria" pitchFamily="34" charset="-122"/>
                <a:cs typeface="Cambria" pitchFamily="34" charset="-120"/>
              </a:rPr>
              <a:t>3 a 6</a:t>
            </a:r>
            <a:endParaRPr lang="en-US" sz="3400" dirty="0"/>
          </a:p>
        </p:txBody>
      </p:sp>
      <p:sp>
        <p:nvSpPr>
          <p:cNvPr id="10" name="Text 8"/>
          <p:cNvSpPr txBox="1"/>
          <p:nvPr/>
        </p:nvSpPr>
        <p:spPr>
          <a:xfrm>
            <a:off x="3429000" y="2926080"/>
            <a:ext cx="2286000" cy="320040"/>
          </a:xfrm>
          <a:prstGeom prst="rect">
            <a:avLst/>
          </a:prstGeom>
          <a:noFill/>
          <a:ln/>
        </p:spPr>
        <p:txBody>
          <a:bodyPr wrap="square" lIns="0" tIns="0" rIns="0" bIns="0" rtlCol="0" anchor="t"/>
          <a:lstStyle/>
          <a:p>
            <a:pPr marL="0" indent="0">
              <a:buNone/>
            </a:pPr>
            <a:r>
              <a:rPr lang="en-US" sz="1300" dirty="0">
                <a:solidFill>
                  <a:srgbClr val="DCE9F5"/>
                </a:solidFill>
                <a:latin typeface="Calibri" pitchFamily="34" charset="0"/>
                <a:ea typeface="Calibri" pitchFamily="34" charset="-122"/>
                <a:cs typeface="Calibri" pitchFamily="34" charset="-120"/>
              </a:rPr>
              <a:t>días de historial</a:t>
            </a:r>
            <a:endParaRPr lang="en-US" sz="1300" dirty="0"/>
          </a:p>
        </p:txBody>
      </p:sp>
      <p:sp>
        <p:nvSpPr>
          <p:cNvPr id="11" name="Text 9"/>
          <p:cNvSpPr txBox="1"/>
          <p:nvPr/>
        </p:nvSpPr>
        <p:spPr>
          <a:xfrm>
            <a:off x="3429000" y="3337560"/>
            <a:ext cx="2286000" cy="50292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Confianza media</a:t>
            </a:r>
            <a:endParaRPr lang="en-US" sz="1500" dirty="0"/>
          </a:p>
        </p:txBody>
      </p:sp>
      <p:sp>
        <p:nvSpPr>
          <p:cNvPr id="12" name="Shape 10"/>
          <p:cNvSpPr/>
          <p:nvPr/>
        </p:nvSpPr>
        <p:spPr>
          <a:xfrm>
            <a:off x="6035040" y="2103120"/>
            <a:ext cx="2651760" cy="1828800"/>
          </a:xfrm>
          <a:prstGeom prst="roundRect">
            <a:avLst>
              <a:gd name="adj" fmla="val 4000"/>
            </a:avLst>
          </a:prstGeom>
          <a:solidFill>
            <a:srgbClr val="13315A"/>
          </a:solidFill>
          <a:ln w="9525">
            <a:solidFill>
              <a:srgbClr val="13315A"/>
            </a:solidFill>
            <a:prstDash val="solid"/>
          </a:ln>
        </p:spPr>
        <p:txBody>
          <a:bodyPr/>
          <a:lstStyle/>
          <a:p>
            <a:endParaRPr lang="es-PE"/>
          </a:p>
        </p:txBody>
      </p:sp>
      <p:sp>
        <p:nvSpPr>
          <p:cNvPr id="13" name="Text 11"/>
          <p:cNvSpPr txBox="1"/>
          <p:nvPr/>
        </p:nvSpPr>
        <p:spPr>
          <a:xfrm>
            <a:off x="6217920" y="2194560"/>
            <a:ext cx="2286000" cy="731520"/>
          </a:xfrm>
          <a:prstGeom prst="rect">
            <a:avLst/>
          </a:prstGeom>
          <a:noFill/>
          <a:ln/>
        </p:spPr>
        <p:txBody>
          <a:bodyPr wrap="square" lIns="0" tIns="0" rIns="0" bIns="0" rtlCol="0" anchor="ctr"/>
          <a:lstStyle/>
          <a:p>
            <a:pPr marL="0" indent="0">
              <a:buNone/>
            </a:pPr>
            <a:r>
              <a:rPr lang="en-US" sz="3400" b="1" dirty="0">
                <a:solidFill>
                  <a:srgbClr val="DCE9F5"/>
                </a:solidFill>
                <a:latin typeface="Cambria" pitchFamily="34" charset="0"/>
                <a:ea typeface="Cambria" pitchFamily="34" charset="-122"/>
                <a:cs typeface="Cambria" pitchFamily="34" charset="-120"/>
              </a:rPr>
              <a:t>Menos de 3</a:t>
            </a:r>
            <a:endParaRPr lang="en-US" sz="3400" dirty="0"/>
          </a:p>
        </p:txBody>
      </p:sp>
      <p:sp>
        <p:nvSpPr>
          <p:cNvPr id="14" name="Text 12"/>
          <p:cNvSpPr txBox="1"/>
          <p:nvPr/>
        </p:nvSpPr>
        <p:spPr>
          <a:xfrm>
            <a:off x="6217920" y="2926080"/>
            <a:ext cx="2286000" cy="320040"/>
          </a:xfrm>
          <a:prstGeom prst="rect">
            <a:avLst/>
          </a:prstGeom>
          <a:noFill/>
          <a:ln/>
        </p:spPr>
        <p:txBody>
          <a:bodyPr wrap="square" lIns="0" tIns="0" rIns="0" bIns="0" rtlCol="0" anchor="t"/>
          <a:lstStyle/>
          <a:p>
            <a:pPr marL="0" indent="0">
              <a:buNone/>
            </a:pPr>
            <a:r>
              <a:rPr lang="en-US" sz="1300" dirty="0">
                <a:solidFill>
                  <a:srgbClr val="DCE9F5"/>
                </a:solidFill>
                <a:latin typeface="Calibri" pitchFamily="34" charset="0"/>
                <a:ea typeface="Calibri" pitchFamily="34" charset="-122"/>
                <a:cs typeface="Calibri" pitchFamily="34" charset="-120"/>
              </a:rPr>
              <a:t>días de historial</a:t>
            </a:r>
            <a:endParaRPr lang="en-US" sz="1300" dirty="0"/>
          </a:p>
        </p:txBody>
      </p:sp>
      <p:sp>
        <p:nvSpPr>
          <p:cNvPr id="15" name="Text 13"/>
          <p:cNvSpPr txBox="1"/>
          <p:nvPr/>
        </p:nvSpPr>
        <p:spPr>
          <a:xfrm>
            <a:off x="6217920" y="3337560"/>
            <a:ext cx="2286000" cy="50292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Muestra baja, sin estimación</a:t>
            </a:r>
            <a:endParaRPr lang="en-US" sz="1500" dirty="0"/>
          </a:p>
        </p:txBody>
      </p:sp>
      <p:sp>
        <p:nvSpPr>
          <p:cNvPr id="16" name="Text 14"/>
          <p:cNvSpPr txBox="1"/>
          <p:nvPr/>
        </p:nvSpPr>
        <p:spPr>
          <a:xfrm>
            <a:off x="457200" y="4206240"/>
            <a:ext cx="8229600" cy="54864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Sin historial de tráfico, el sistema no pronostica: prefiere no dar cifra a inventarla.</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2800" b="1" dirty="0">
                <a:solidFill>
                  <a:srgbClr val="0B1F3A"/>
                </a:solidFill>
                <a:latin typeface="Cambria" pitchFamily="34" charset="0"/>
                <a:ea typeface="Cambria" pitchFamily="34" charset="-122"/>
                <a:cs typeface="Cambria" pitchFamily="34" charset="-120"/>
              </a:rPr>
              <a:t>Indicadores comerciales por negocio y empresa</a:t>
            </a:r>
            <a:endParaRPr lang="en-US" sz="2800" dirty="0"/>
          </a:p>
        </p:txBody>
      </p:sp>
      <p:sp>
        <p:nvSpPr>
          <p:cNvPr id="3" name="Shape 1"/>
          <p:cNvSpPr/>
          <p:nvPr/>
        </p:nvSpPr>
        <p:spPr>
          <a:xfrm>
            <a:off x="457200" y="1188720"/>
            <a:ext cx="1874520" cy="1645920"/>
          </a:xfrm>
          <a:prstGeom prst="roundRect">
            <a:avLst>
              <a:gd name="adj" fmla="val 4444"/>
            </a:avLst>
          </a:prstGeom>
          <a:solidFill>
            <a:srgbClr val="FFFFFF"/>
          </a:solidFill>
          <a:ln w="9525">
            <a:solidFill>
              <a:srgbClr val="D5DEE9"/>
            </a:solidFill>
            <a:prstDash val="solid"/>
          </a:ln>
        </p:spPr>
        <p:txBody>
          <a:bodyPr/>
          <a:lstStyle/>
          <a:p>
            <a:endParaRPr lang="es-PE"/>
          </a:p>
        </p:txBody>
      </p:sp>
      <p:sp>
        <p:nvSpPr>
          <p:cNvPr id="4" name="Text 2"/>
          <p:cNvSpPr txBox="1"/>
          <p:nvPr/>
        </p:nvSpPr>
        <p:spPr>
          <a:xfrm>
            <a:off x="594360" y="1298448"/>
            <a:ext cx="1645920" cy="365760"/>
          </a:xfrm>
          <a:prstGeom prst="rect">
            <a:avLst/>
          </a:prstGeom>
          <a:noFill/>
          <a:ln/>
        </p:spPr>
        <p:txBody>
          <a:bodyPr wrap="square" lIns="0" tIns="0" rIns="0" bIns="0" rtlCol="0" anchor="t"/>
          <a:lstStyle/>
          <a:p>
            <a:pPr marL="0" indent="0">
              <a:buNone/>
            </a:pPr>
            <a:r>
              <a:rPr lang="en-US" sz="1800" b="1" dirty="0">
                <a:solidFill>
                  <a:srgbClr val="1F5C8B"/>
                </a:solidFill>
                <a:latin typeface="Cambria" pitchFamily="34" charset="0"/>
                <a:ea typeface="Cambria" pitchFamily="34" charset="-122"/>
                <a:cs typeface="Cambria" pitchFamily="34" charset="-120"/>
              </a:rPr>
              <a:t>Entradas</a:t>
            </a:r>
            <a:endParaRPr lang="en-US" sz="1800" dirty="0"/>
          </a:p>
        </p:txBody>
      </p:sp>
      <p:sp>
        <p:nvSpPr>
          <p:cNvPr id="5" name="Text 3"/>
          <p:cNvSpPr txBox="1"/>
          <p:nvPr/>
        </p:nvSpPr>
        <p:spPr>
          <a:xfrm>
            <a:off x="594360" y="1755648"/>
            <a:ext cx="1645920" cy="1005840"/>
          </a:xfrm>
          <a:prstGeom prst="rect">
            <a:avLst/>
          </a:prstGeom>
          <a:noFill/>
          <a:ln/>
        </p:spPr>
        <p:txBody>
          <a:bodyPr wrap="square" lIns="0" tIns="0" rIns="0" bIns="0" rtlCol="0" anchor="t"/>
          <a:lstStyle/>
          <a:p>
            <a:pPr marL="0" indent="0">
              <a:buNone/>
            </a:pPr>
            <a:r>
              <a:rPr lang="en-US" sz="1300" dirty="0">
                <a:solidFill>
                  <a:srgbClr val="1B2430"/>
                </a:solidFill>
                <a:latin typeface="Calibri" pitchFamily="34" charset="0"/>
                <a:ea typeface="Calibri" pitchFamily="34" charset="-122"/>
                <a:cs typeface="Calibri" pitchFamily="34" charset="-120"/>
              </a:rPr>
              <a:t>Personas que cruzan el acceso en la hora</a:t>
            </a:r>
            <a:endParaRPr lang="en-US" sz="1300" dirty="0"/>
          </a:p>
        </p:txBody>
      </p:sp>
      <p:sp>
        <p:nvSpPr>
          <p:cNvPr id="6" name="Shape 4"/>
          <p:cNvSpPr/>
          <p:nvPr/>
        </p:nvSpPr>
        <p:spPr>
          <a:xfrm>
            <a:off x="2578608" y="1188720"/>
            <a:ext cx="1874520" cy="1645920"/>
          </a:xfrm>
          <a:prstGeom prst="roundRect">
            <a:avLst>
              <a:gd name="adj" fmla="val 4444"/>
            </a:avLst>
          </a:prstGeom>
          <a:solidFill>
            <a:srgbClr val="FFFFFF"/>
          </a:solidFill>
          <a:ln w="9525">
            <a:solidFill>
              <a:srgbClr val="D5DEE9"/>
            </a:solidFill>
            <a:prstDash val="solid"/>
          </a:ln>
        </p:spPr>
        <p:txBody>
          <a:bodyPr/>
          <a:lstStyle/>
          <a:p>
            <a:endParaRPr lang="es-PE"/>
          </a:p>
        </p:txBody>
      </p:sp>
      <p:sp>
        <p:nvSpPr>
          <p:cNvPr id="7" name="Text 5"/>
          <p:cNvSpPr txBox="1"/>
          <p:nvPr/>
        </p:nvSpPr>
        <p:spPr>
          <a:xfrm>
            <a:off x="2715768" y="1298448"/>
            <a:ext cx="1645920" cy="365760"/>
          </a:xfrm>
          <a:prstGeom prst="rect">
            <a:avLst/>
          </a:prstGeom>
          <a:noFill/>
          <a:ln/>
        </p:spPr>
        <p:txBody>
          <a:bodyPr wrap="square" lIns="0" tIns="0" rIns="0" bIns="0" rtlCol="0" anchor="t"/>
          <a:lstStyle/>
          <a:p>
            <a:pPr marL="0" indent="0">
              <a:buNone/>
            </a:pPr>
            <a:r>
              <a:rPr lang="en-US" sz="1800" b="1" dirty="0">
                <a:solidFill>
                  <a:srgbClr val="1F5C8B"/>
                </a:solidFill>
                <a:latin typeface="Cambria" pitchFamily="34" charset="0"/>
                <a:ea typeface="Cambria" pitchFamily="34" charset="-122"/>
                <a:cs typeface="Cambria" pitchFamily="34" charset="-120"/>
              </a:rPr>
              <a:t>Ventas</a:t>
            </a:r>
            <a:endParaRPr lang="en-US" sz="1800" dirty="0"/>
          </a:p>
        </p:txBody>
      </p:sp>
      <p:sp>
        <p:nvSpPr>
          <p:cNvPr id="8" name="Text 6"/>
          <p:cNvSpPr txBox="1"/>
          <p:nvPr/>
        </p:nvSpPr>
        <p:spPr>
          <a:xfrm>
            <a:off x="2715768" y="1755648"/>
            <a:ext cx="1645920" cy="1005840"/>
          </a:xfrm>
          <a:prstGeom prst="rect">
            <a:avLst/>
          </a:prstGeom>
          <a:noFill/>
          <a:ln/>
        </p:spPr>
        <p:txBody>
          <a:bodyPr wrap="square" lIns="0" tIns="0" rIns="0" bIns="0" rtlCol="0" anchor="t"/>
          <a:lstStyle/>
          <a:p>
            <a:pPr marL="0" indent="0">
              <a:buNone/>
            </a:pPr>
            <a:r>
              <a:rPr lang="en-US" sz="1300" dirty="0">
                <a:solidFill>
                  <a:srgbClr val="1B2430"/>
                </a:solidFill>
                <a:latin typeface="Calibri" pitchFamily="34" charset="0"/>
                <a:ea typeface="Calibri" pitchFamily="34" charset="-122"/>
                <a:cs typeface="Calibri" pitchFamily="34" charset="-120"/>
              </a:rPr>
              <a:t>Monto y transacciones del CSV en esa hora</a:t>
            </a:r>
            <a:endParaRPr lang="en-US" sz="1300" dirty="0"/>
          </a:p>
        </p:txBody>
      </p:sp>
      <p:sp>
        <p:nvSpPr>
          <p:cNvPr id="9" name="Shape 7"/>
          <p:cNvSpPr/>
          <p:nvPr/>
        </p:nvSpPr>
        <p:spPr>
          <a:xfrm>
            <a:off x="4700016" y="1188720"/>
            <a:ext cx="1874520" cy="1645920"/>
          </a:xfrm>
          <a:prstGeom prst="roundRect">
            <a:avLst>
              <a:gd name="adj" fmla="val 4444"/>
            </a:avLst>
          </a:prstGeom>
          <a:solidFill>
            <a:srgbClr val="FFFFFF"/>
          </a:solidFill>
          <a:ln w="9525">
            <a:solidFill>
              <a:srgbClr val="D5DEE9"/>
            </a:solidFill>
            <a:prstDash val="solid"/>
          </a:ln>
        </p:spPr>
        <p:txBody>
          <a:bodyPr/>
          <a:lstStyle/>
          <a:p>
            <a:endParaRPr lang="es-PE"/>
          </a:p>
        </p:txBody>
      </p:sp>
      <p:sp>
        <p:nvSpPr>
          <p:cNvPr id="10" name="Text 8"/>
          <p:cNvSpPr txBox="1"/>
          <p:nvPr/>
        </p:nvSpPr>
        <p:spPr>
          <a:xfrm>
            <a:off x="4837176" y="1298448"/>
            <a:ext cx="1645920" cy="365760"/>
          </a:xfrm>
          <a:prstGeom prst="rect">
            <a:avLst/>
          </a:prstGeom>
          <a:noFill/>
          <a:ln/>
        </p:spPr>
        <p:txBody>
          <a:bodyPr wrap="square" lIns="0" tIns="0" rIns="0" bIns="0" rtlCol="0" anchor="t"/>
          <a:lstStyle/>
          <a:p>
            <a:pPr marL="0" indent="0">
              <a:buNone/>
            </a:pPr>
            <a:r>
              <a:rPr lang="en-US" sz="1800" b="1" dirty="0">
                <a:solidFill>
                  <a:srgbClr val="1F5C8B"/>
                </a:solidFill>
                <a:latin typeface="Cambria" pitchFamily="34" charset="0"/>
                <a:ea typeface="Cambria" pitchFamily="34" charset="-122"/>
                <a:cs typeface="Cambria" pitchFamily="34" charset="-120"/>
              </a:rPr>
              <a:t>Conversión</a:t>
            </a:r>
            <a:endParaRPr lang="en-US" sz="1800" dirty="0"/>
          </a:p>
        </p:txBody>
      </p:sp>
      <p:sp>
        <p:nvSpPr>
          <p:cNvPr id="11" name="Text 9"/>
          <p:cNvSpPr txBox="1"/>
          <p:nvPr/>
        </p:nvSpPr>
        <p:spPr>
          <a:xfrm>
            <a:off x="4837176" y="1755648"/>
            <a:ext cx="1645920" cy="1005840"/>
          </a:xfrm>
          <a:prstGeom prst="rect">
            <a:avLst/>
          </a:prstGeom>
          <a:noFill/>
          <a:ln/>
        </p:spPr>
        <p:txBody>
          <a:bodyPr wrap="square" lIns="0" tIns="0" rIns="0" bIns="0" rtlCol="0" anchor="t"/>
          <a:lstStyle/>
          <a:p>
            <a:pPr marL="0" indent="0">
              <a:buNone/>
            </a:pPr>
            <a:r>
              <a:rPr lang="en-US" sz="1300" dirty="0">
                <a:solidFill>
                  <a:srgbClr val="1B2430"/>
                </a:solidFill>
                <a:latin typeface="Calibri" pitchFamily="34" charset="0"/>
                <a:ea typeface="Calibri" pitchFamily="34" charset="-122"/>
                <a:cs typeface="Calibri" pitchFamily="34" charset="-120"/>
              </a:rPr>
              <a:t>Transacciones entre entradas, en porcentaje</a:t>
            </a:r>
            <a:endParaRPr lang="en-US" sz="1300" dirty="0"/>
          </a:p>
        </p:txBody>
      </p:sp>
      <p:sp>
        <p:nvSpPr>
          <p:cNvPr id="12" name="Shape 10"/>
          <p:cNvSpPr/>
          <p:nvPr/>
        </p:nvSpPr>
        <p:spPr>
          <a:xfrm>
            <a:off x="6821424" y="1188720"/>
            <a:ext cx="1874520" cy="1645920"/>
          </a:xfrm>
          <a:prstGeom prst="roundRect">
            <a:avLst>
              <a:gd name="adj" fmla="val 4444"/>
            </a:avLst>
          </a:prstGeom>
          <a:solidFill>
            <a:srgbClr val="FFFFFF"/>
          </a:solidFill>
          <a:ln w="9525">
            <a:solidFill>
              <a:srgbClr val="D5DEE9"/>
            </a:solidFill>
            <a:prstDash val="solid"/>
          </a:ln>
        </p:spPr>
        <p:txBody>
          <a:bodyPr/>
          <a:lstStyle/>
          <a:p>
            <a:endParaRPr lang="es-PE"/>
          </a:p>
        </p:txBody>
      </p:sp>
      <p:sp>
        <p:nvSpPr>
          <p:cNvPr id="13" name="Text 11"/>
          <p:cNvSpPr txBox="1"/>
          <p:nvPr/>
        </p:nvSpPr>
        <p:spPr>
          <a:xfrm>
            <a:off x="6958584" y="1298448"/>
            <a:ext cx="1645920" cy="365760"/>
          </a:xfrm>
          <a:prstGeom prst="rect">
            <a:avLst/>
          </a:prstGeom>
          <a:noFill/>
          <a:ln/>
        </p:spPr>
        <p:txBody>
          <a:bodyPr wrap="square" lIns="0" tIns="0" rIns="0" bIns="0" rtlCol="0" anchor="t"/>
          <a:lstStyle/>
          <a:p>
            <a:pPr marL="0" indent="0">
              <a:buNone/>
            </a:pPr>
            <a:r>
              <a:rPr lang="en-US" sz="1800" b="1" dirty="0">
                <a:solidFill>
                  <a:srgbClr val="1F5C8B"/>
                </a:solidFill>
                <a:latin typeface="Cambria" pitchFamily="34" charset="0"/>
                <a:ea typeface="Cambria" pitchFamily="34" charset="-122"/>
                <a:cs typeface="Cambria" pitchFamily="34" charset="-120"/>
              </a:rPr>
              <a:t>Proyección</a:t>
            </a:r>
            <a:endParaRPr lang="en-US" sz="1800" dirty="0"/>
          </a:p>
        </p:txBody>
      </p:sp>
      <p:sp>
        <p:nvSpPr>
          <p:cNvPr id="14" name="Text 12"/>
          <p:cNvSpPr txBox="1"/>
          <p:nvPr/>
        </p:nvSpPr>
        <p:spPr>
          <a:xfrm>
            <a:off x="6958584" y="1755648"/>
            <a:ext cx="1645920" cy="1005840"/>
          </a:xfrm>
          <a:prstGeom prst="rect">
            <a:avLst/>
          </a:prstGeom>
          <a:noFill/>
          <a:ln/>
        </p:spPr>
        <p:txBody>
          <a:bodyPr wrap="square" lIns="0" tIns="0" rIns="0" bIns="0" rtlCol="0" anchor="t"/>
          <a:lstStyle/>
          <a:p>
            <a:pPr marL="0" indent="0">
              <a:buNone/>
            </a:pPr>
            <a:r>
              <a:rPr lang="en-US" sz="1300" dirty="0">
                <a:solidFill>
                  <a:srgbClr val="1B2430"/>
                </a:solidFill>
                <a:latin typeface="Calibri" pitchFamily="34" charset="0"/>
                <a:ea typeface="Calibri" pitchFamily="34" charset="-122"/>
                <a:cs typeface="Calibri" pitchFamily="34" charset="-120"/>
              </a:rPr>
              <a:t>Venta estimada frente a la venta real</a:t>
            </a:r>
            <a:endParaRPr lang="en-US" sz="1300" dirty="0"/>
          </a:p>
        </p:txBody>
      </p:sp>
      <p:sp>
        <p:nvSpPr>
          <p:cNvPr id="15" name="Text 13"/>
          <p:cNvSpPr txBox="1"/>
          <p:nvPr/>
        </p:nvSpPr>
        <p:spPr>
          <a:xfrm>
            <a:off x="457200" y="3108960"/>
            <a:ext cx="8229600" cy="17373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B2430"/>
                </a:solidFill>
                <a:latin typeface="Calibri" pitchFamily="34" charset="0"/>
                <a:ea typeface="Calibri" pitchFamily="34" charset="-122"/>
                <a:cs typeface="Calibri" pitchFamily="34" charset="-120"/>
              </a:rPr>
              <a:t>Resumen horario por negocio: entradas, salidas, cobertura, ventas y estimación en cada hora.</a:t>
            </a:r>
            <a:endParaRPr lang="en-US" sz="1500" dirty="0"/>
          </a:p>
          <a:p>
            <a:pPr marL="342900" indent="-342900">
              <a:spcAft>
                <a:spcPts val="600"/>
              </a:spcAft>
              <a:buSzPct val="100000"/>
              <a:buChar char="•"/>
            </a:pPr>
            <a:r>
              <a:rPr lang="en-US" sz="1500" dirty="0">
                <a:solidFill>
                  <a:srgbClr val="1B2430"/>
                </a:solidFill>
                <a:latin typeface="Calibri" pitchFamily="34" charset="0"/>
                <a:ea typeface="Calibri" pitchFamily="34" charset="-122"/>
                <a:cs typeface="Calibri" pitchFamily="34" charset="-120"/>
              </a:rPr>
              <a:t>Vista agrupada por empresa u operador, con totales de entradas, ventas, estimación y conversión.</a:t>
            </a:r>
            <a:endParaRPr lang="en-US" sz="1500" dirty="0"/>
          </a:p>
          <a:p>
            <a:pPr marL="342900" indent="-342900">
              <a:spcAft>
                <a:spcPts val="600"/>
              </a:spcAft>
              <a:buSzPct val="100000"/>
              <a:buChar char="•"/>
            </a:pPr>
            <a:r>
              <a:rPr lang="en-US" sz="1500" dirty="0">
                <a:solidFill>
                  <a:srgbClr val="1B2430"/>
                </a:solidFill>
                <a:latin typeface="Calibri" pitchFamily="34" charset="0"/>
                <a:ea typeface="Calibri" pitchFamily="34" charset="-122"/>
                <a:cs typeface="Calibri" pitchFamily="34" charset="-120"/>
              </a:rPr>
              <a:t>Alertas de planificación sugeridas a partir del pronóstico de la siguiente hora.</a:t>
            </a:r>
            <a:endParaRPr lang="en-US" sz="1500" dirty="0"/>
          </a:p>
          <a:p>
            <a:pPr marL="342900" indent="-342900">
              <a:spcAft>
                <a:spcPts val="600"/>
              </a:spcAft>
              <a:buSzPct val="100000"/>
              <a:buChar char="•"/>
            </a:pPr>
            <a:r>
              <a:rPr lang="en-US" sz="1500" dirty="0">
                <a:solidFill>
                  <a:srgbClr val="1B2430"/>
                </a:solidFill>
                <a:latin typeface="Calibri" pitchFamily="34" charset="0"/>
                <a:ea typeface="Calibri" pitchFamily="34" charset="-122"/>
                <a:cs typeface="Calibri" pitchFamily="34" charset="-120"/>
              </a:rPr>
              <a:t>Cada cifra indica si proviene de datos reales o de prueba.</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2800" b="1" dirty="0">
                <a:solidFill>
                  <a:srgbClr val="0B1F3A"/>
                </a:solidFill>
                <a:latin typeface="Cambria" pitchFamily="34" charset="0"/>
                <a:ea typeface="Cambria" pitchFamily="34" charset="-122"/>
                <a:cs typeface="Cambria" pitchFamily="34" charset="-120"/>
              </a:rPr>
              <a:t>Señal experimental de objeto nuevo al salir</a:t>
            </a:r>
            <a:endParaRPr lang="en-US" sz="2800" dirty="0"/>
          </a:p>
        </p:txBody>
      </p:sp>
      <p:sp>
        <p:nvSpPr>
          <p:cNvPr id="3" name="Shape 1"/>
          <p:cNvSpPr/>
          <p:nvPr/>
        </p:nvSpPr>
        <p:spPr>
          <a:xfrm>
            <a:off x="457200" y="1188720"/>
            <a:ext cx="1874520" cy="1828800"/>
          </a:xfrm>
          <a:prstGeom prst="roundRect">
            <a:avLst>
              <a:gd name="adj" fmla="val 4000"/>
            </a:avLst>
          </a:prstGeom>
          <a:solidFill>
            <a:srgbClr val="F4F7FB"/>
          </a:solidFill>
          <a:ln w="9525">
            <a:solidFill>
              <a:srgbClr val="D5DEE9"/>
            </a:solidFill>
            <a:prstDash val="solid"/>
          </a:ln>
        </p:spPr>
        <p:txBody>
          <a:bodyPr/>
          <a:lstStyle/>
          <a:p>
            <a:endParaRPr lang="es-PE"/>
          </a:p>
        </p:txBody>
      </p:sp>
      <p:sp>
        <p:nvSpPr>
          <p:cNvPr id="4" name="Shape 2"/>
          <p:cNvSpPr/>
          <p:nvPr/>
        </p:nvSpPr>
        <p:spPr>
          <a:xfrm>
            <a:off x="594360" y="1298448"/>
            <a:ext cx="384048" cy="384048"/>
          </a:xfrm>
          <a:prstGeom prst="ellipse">
            <a:avLst/>
          </a:prstGeom>
          <a:solidFill>
            <a:srgbClr val="F2A93B"/>
          </a:solidFill>
          <a:ln w="12700">
            <a:solidFill>
              <a:srgbClr val="F2A93B"/>
            </a:solidFill>
            <a:prstDash val="solid"/>
          </a:ln>
        </p:spPr>
        <p:txBody>
          <a:bodyPr/>
          <a:lstStyle/>
          <a:p>
            <a:endParaRPr lang="es-PE"/>
          </a:p>
        </p:txBody>
      </p:sp>
      <p:sp>
        <p:nvSpPr>
          <p:cNvPr id="5" name="Text 3"/>
          <p:cNvSpPr txBox="1"/>
          <p:nvPr/>
        </p:nvSpPr>
        <p:spPr>
          <a:xfrm>
            <a:off x="594360" y="1298448"/>
            <a:ext cx="384048" cy="384048"/>
          </a:xfrm>
          <a:prstGeom prst="rect">
            <a:avLst/>
          </a:prstGeom>
          <a:noFill/>
          <a:ln/>
        </p:spPr>
        <p:txBody>
          <a:bodyPr wrap="square" lIns="0" tIns="0" rIns="0" bIns="0" rtlCol="0" anchor="ctr"/>
          <a:lstStyle/>
          <a:p>
            <a:pPr marL="0" indent="0" algn="ctr">
              <a:buNone/>
            </a:pPr>
            <a:r>
              <a:rPr lang="en-US" sz="1400" b="1" dirty="0">
                <a:solidFill>
                  <a:srgbClr val="0B1F3A"/>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594360" y="1783080"/>
            <a:ext cx="1645920" cy="320040"/>
          </a:xfrm>
          <a:prstGeom prst="rect">
            <a:avLst/>
          </a:prstGeom>
          <a:noFill/>
          <a:ln/>
        </p:spPr>
        <p:txBody>
          <a:bodyPr wrap="square" lIns="0" tIns="0" rIns="0" bIns="0" rtlCol="0" anchor="t"/>
          <a:lstStyle/>
          <a:p>
            <a:pPr marL="0" indent="0">
              <a:buNone/>
            </a:pPr>
            <a:r>
              <a:rPr lang="en-US" sz="1600" b="1" dirty="0">
                <a:solidFill>
                  <a:srgbClr val="0B1F3A"/>
                </a:solidFill>
                <a:latin typeface="Cambria" pitchFamily="34" charset="0"/>
                <a:ea typeface="Cambria" pitchFamily="34" charset="-122"/>
                <a:cs typeface="Cambria" pitchFamily="34" charset="-120"/>
              </a:rPr>
              <a:t>Detecta</a:t>
            </a:r>
            <a:endParaRPr lang="en-US" sz="1600" dirty="0"/>
          </a:p>
        </p:txBody>
      </p:sp>
      <p:sp>
        <p:nvSpPr>
          <p:cNvPr id="7" name="Text 5"/>
          <p:cNvSpPr txBox="1"/>
          <p:nvPr/>
        </p:nvSpPr>
        <p:spPr>
          <a:xfrm>
            <a:off x="594360" y="2148840"/>
            <a:ext cx="1645920" cy="822960"/>
          </a:xfrm>
          <a:prstGeom prst="rect">
            <a:avLst/>
          </a:prstGeom>
          <a:noFill/>
          <a:ln/>
        </p:spPr>
        <p:txBody>
          <a:bodyPr wrap="square" lIns="0" tIns="0" rIns="0" bIns="0" rtlCol="0" anchor="t"/>
          <a:lstStyle/>
          <a:p>
            <a:pPr marL="0" indent="0">
              <a:buNone/>
            </a:pPr>
            <a:r>
              <a:rPr lang="en-US" sz="1200" dirty="0">
                <a:solidFill>
                  <a:srgbClr val="1B2430"/>
                </a:solidFill>
                <a:latin typeface="Calibri" pitchFamily="34" charset="0"/>
                <a:ea typeface="Calibri" pitchFamily="34" charset="-122"/>
                <a:cs typeface="Calibri" pitchFamily="34" charset="-120"/>
              </a:rPr>
              <a:t>YOLO11n identifica personas, mochilas, carteras y maletas.</a:t>
            </a:r>
            <a:endParaRPr lang="en-US" sz="1200" dirty="0"/>
          </a:p>
        </p:txBody>
      </p:sp>
      <p:sp>
        <p:nvSpPr>
          <p:cNvPr id="8" name="Shape 6"/>
          <p:cNvSpPr/>
          <p:nvPr/>
        </p:nvSpPr>
        <p:spPr>
          <a:xfrm>
            <a:off x="2578608" y="1188720"/>
            <a:ext cx="1874520" cy="1828800"/>
          </a:xfrm>
          <a:prstGeom prst="roundRect">
            <a:avLst>
              <a:gd name="adj" fmla="val 4000"/>
            </a:avLst>
          </a:prstGeom>
          <a:solidFill>
            <a:srgbClr val="F4F7FB"/>
          </a:solidFill>
          <a:ln w="9525">
            <a:solidFill>
              <a:srgbClr val="D5DEE9"/>
            </a:solidFill>
            <a:prstDash val="solid"/>
          </a:ln>
        </p:spPr>
        <p:txBody>
          <a:bodyPr/>
          <a:lstStyle/>
          <a:p>
            <a:endParaRPr lang="es-PE"/>
          </a:p>
        </p:txBody>
      </p:sp>
      <p:sp>
        <p:nvSpPr>
          <p:cNvPr id="9" name="Shape 7"/>
          <p:cNvSpPr/>
          <p:nvPr/>
        </p:nvSpPr>
        <p:spPr>
          <a:xfrm>
            <a:off x="2715768" y="1298448"/>
            <a:ext cx="384048" cy="384048"/>
          </a:xfrm>
          <a:prstGeom prst="ellipse">
            <a:avLst/>
          </a:prstGeom>
          <a:solidFill>
            <a:srgbClr val="F2A93B"/>
          </a:solidFill>
          <a:ln w="12700">
            <a:solidFill>
              <a:srgbClr val="F2A93B"/>
            </a:solidFill>
            <a:prstDash val="solid"/>
          </a:ln>
        </p:spPr>
        <p:txBody>
          <a:bodyPr/>
          <a:lstStyle/>
          <a:p>
            <a:endParaRPr lang="es-PE"/>
          </a:p>
        </p:txBody>
      </p:sp>
      <p:sp>
        <p:nvSpPr>
          <p:cNvPr id="10" name="Text 8"/>
          <p:cNvSpPr txBox="1"/>
          <p:nvPr/>
        </p:nvSpPr>
        <p:spPr>
          <a:xfrm>
            <a:off x="2715768" y="1298448"/>
            <a:ext cx="384048" cy="384048"/>
          </a:xfrm>
          <a:prstGeom prst="rect">
            <a:avLst/>
          </a:prstGeom>
          <a:noFill/>
          <a:ln/>
        </p:spPr>
        <p:txBody>
          <a:bodyPr wrap="square" lIns="0" tIns="0" rIns="0" bIns="0" rtlCol="0" anchor="ctr"/>
          <a:lstStyle/>
          <a:p>
            <a:pPr marL="0" indent="0" algn="ctr">
              <a:buNone/>
            </a:pPr>
            <a:r>
              <a:rPr lang="en-US" sz="1400" b="1" dirty="0">
                <a:solidFill>
                  <a:srgbClr val="0B1F3A"/>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2715768" y="1783080"/>
            <a:ext cx="1645920" cy="320040"/>
          </a:xfrm>
          <a:prstGeom prst="rect">
            <a:avLst/>
          </a:prstGeom>
          <a:noFill/>
          <a:ln/>
        </p:spPr>
        <p:txBody>
          <a:bodyPr wrap="square" lIns="0" tIns="0" rIns="0" bIns="0" rtlCol="0" anchor="t"/>
          <a:lstStyle/>
          <a:p>
            <a:pPr marL="0" indent="0">
              <a:buNone/>
            </a:pPr>
            <a:r>
              <a:rPr lang="en-US" sz="1600" b="1" dirty="0">
                <a:solidFill>
                  <a:srgbClr val="0B1F3A"/>
                </a:solidFill>
                <a:latin typeface="Cambria" pitchFamily="34" charset="0"/>
                <a:ea typeface="Cambria" pitchFamily="34" charset="-122"/>
                <a:cs typeface="Cambria" pitchFamily="34" charset="-120"/>
              </a:rPr>
              <a:t>Sigue</a:t>
            </a:r>
            <a:endParaRPr lang="en-US" sz="1600" dirty="0"/>
          </a:p>
        </p:txBody>
      </p:sp>
      <p:sp>
        <p:nvSpPr>
          <p:cNvPr id="12" name="Text 10"/>
          <p:cNvSpPr txBox="1"/>
          <p:nvPr/>
        </p:nvSpPr>
        <p:spPr>
          <a:xfrm>
            <a:off x="2715768" y="2148840"/>
            <a:ext cx="1645920" cy="822960"/>
          </a:xfrm>
          <a:prstGeom prst="rect">
            <a:avLst/>
          </a:prstGeom>
          <a:noFill/>
          <a:ln/>
        </p:spPr>
        <p:txBody>
          <a:bodyPr wrap="square" lIns="0" tIns="0" rIns="0" bIns="0" rtlCol="0" anchor="t"/>
          <a:lstStyle/>
          <a:p>
            <a:pPr marL="0" indent="0">
              <a:buNone/>
            </a:pPr>
            <a:r>
              <a:rPr lang="en-US" sz="1200" dirty="0">
                <a:solidFill>
                  <a:srgbClr val="1B2430"/>
                </a:solidFill>
                <a:latin typeface="Calibri" pitchFamily="34" charset="0"/>
                <a:ea typeface="Calibri" pitchFamily="34" charset="-122"/>
                <a:cs typeface="Calibri" pitchFamily="34" charset="-120"/>
              </a:rPr>
              <a:t>ByteTrack mantiene la identidad mientras se ven.</a:t>
            </a:r>
            <a:endParaRPr lang="en-US" sz="1200" dirty="0"/>
          </a:p>
        </p:txBody>
      </p:sp>
      <p:sp>
        <p:nvSpPr>
          <p:cNvPr id="13" name="Shape 11"/>
          <p:cNvSpPr/>
          <p:nvPr/>
        </p:nvSpPr>
        <p:spPr>
          <a:xfrm>
            <a:off x="4700016" y="1188720"/>
            <a:ext cx="1874520" cy="1828800"/>
          </a:xfrm>
          <a:prstGeom prst="roundRect">
            <a:avLst>
              <a:gd name="adj" fmla="val 4000"/>
            </a:avLst>
          </a:prstGeom>
          <a:solidFill>
            <a:srgbClr val="F4F7FB"/>
          </a:solidFill>
          <a:ln w="9525">
            <a:solidFill>
              <a:srgbClr val="D5DEE9"/>
            </a:solidFill>
            <a:prstDash val="solid"/>
          </a:ln>
        </p:spPr>
        <p:txBody>
          <a:bodyPr/>
          <a:lstStyle/>
          <a:p>
            <a:endParaRPr lang="es-PE"/>
          </a:p>
        </p:txBody>
      </p:sp>
      <p:sp>
        <p:nvSpPr>
          <p:cNvPr id="14" name="Shape 12"/>
          <p:cNvSpPr/>
          <p:nvPr/>
        </p:nvSpPr>
        <p:spPr>
          <a:xfrm>
            <a:off x="4837176" y="1298448"/>
            <a:ext cx="384048" cy="384048"/>
          </a:xfrm>
          <a:prstGeom prst="ellipse">
            <a:avLst/>
          </a:prstGeom>
          <a:solidFill>
            <a:srgbClr val="F2A93B"/>
          </a:solidFill>
          <a:ln w="12700">
            <a:solidFill>
              <a:srgbClr val="F2A93B"/>
            </a:solidFill>
            <a:prstDash val="solid"/>
          </a:ln>
        </p:spPr>
        <p:txBody>
          <a:bodyPr/>
          <a:lstStyle/>
          <a:p>
            <a:endParaRPr lang="es-PE"/>
          </a:p>
        </p:txBody>
      </p:sp>
      <p:sp>
        <p:nvSpPr>
          <p:cNvPr id="15" name="Text 13"/>
          <p:cNvSpPr txBox="1"/>
          <p:nvPr/>
        </p:nvSpPr>
        <p:spPr>
          <a:xfrm>
            <a:off x="4837176" y="1298448"/>
            <a:ext cx="384048" cy="384048"/>
          </a:xfrm>
          <a:prstGeom prst="rect">
            <a:avLst/>
          </a:prstGeom>
          <a:noFill/>
          <a:ln/>
        </p:spPr>
        <p:txBody>
          <a:bodyPr wrap="square" lIns="0" tIns="0" rIns="0" bIns="0" rtlCol="0" anchor="ctr"/>
          <a:lstStyle/>
          <a:p>
            <a:pPr marL="0" indent="0" algn="ctr">
              <a:buNone/>
            </a:pPr>
            <a:r>
              <a:rPr lang="en-US" sz="1400" b="1" dirty="0">
                <a:solidFill>
                  <a:srgbClr val="0B1F3A"/>
                </a:solidFill>
                <a:latin typeface="Calibri" pitchFamily="34" charset="0"/>
                <a:ea typeface="Calibri" pitchFamily="34" charset="-122"/>
                <a:cs typeface="Calibri" pitchFamily="34" charset="-120"/>
              </a:rPr>
              <a:t>3</a:t>
            </a:r>
            <a:endParaRPr lang="en-US" sz="1400" dirty="0"/>
          </a:p>
        </p:txBody>
      </p:sp>
      <p:sp>
        <p:nvSpPr>
          <p:cNvPr id="16" name="Text 14"/>
          <p:cNvSpPr txBox="1"/>
          <p:nvPr/>
        </p:nvSpPr>
        <p:spPr>
          <a:xfrm>
            <a:off x="4837176" y="1783080"/>
            <a:ext cx="1645920" cy="320040"/>
          </a:xfrm>
          <a:prstGeom prst="rect">
            <a:avLst/>
          </a:prstGeom>
          <a:noFill/>
          <a:ln/>
        </p:spPr>
        <p:txBody>
          <a:bodyPr wrap="square" lIns="0" tIns="0" rIns="0" bIns="0" rtlCol="0" anchor="t"/>
          <a:lstStyle/>
          <a:p>
            <a:pPr marL="0" indent="0">
              <a:buNone/>
            </a:pPr>
            <a:r>
              <a:rPr lang="en-US" sz="1600" b="1" dirty="0">
                <a:solidFill>
                  <a:srgbClr val="0B1F3A"/>
                </a:solidFill>
                <a:latin typeface="Cambria" pitchFamily="34" charset="0"/>
                <a:ea typeface="Cambria" pitchFamily="34" charset="-122"/>
                <a:cs typeface="Cambria" pitchFamily="34" charset="-120"/>
              </a:rPr>
              <a:t>Compara</a:t>
            </a:r>
            <a:endParaRPr lang="en-US" sz="1600" dirty="0"/>
          </a:p>
        </p:txBody>
      </p:sp>
      <p:sp>
        <p:nvSpPr>
          <p:cNvPr id="17" name="Text 15"/>
          <p:cNvSpPr txBox="1"/>
          <p:nvPr/>
        </p:nvSpPr>
        <p:spPr>
          <a:xfrm>
            <a:off x="4837176" y="2148840"/>
            <a:ext cx="1645920" cy="822960"/>
          </a:xfrm>
          <a:prstGeom prst="rect">
            <a:avLst/>
          </a:prstGeom>
          <a:noFill/>
          <a:ln/>
        </p:spPr>
        <p:txBody>
          <a:bodyPr wrap="square" lIns="0" tIns="0" rIns="0" bIns="0" rtlCol="0" anchor="t"/>
          <a:lstStyle/>
          <a:p>
            <a:pPr marL="0" indent="0">
              <a:buNone/>
            </a:pPr>
            <a:r>
              <a:rPr lang="en-US" sz="1200" dirty="0">
                <a:solidFill>
                  <a:srgbClr val="1B2430"/>
                </a:solidFill>
                <a:latin typeface="Calibri" pitchFamily="34" charset="0"/>
                <a:ea typeface="Calibri" pitchFamily="34" charset="-122"/>
                <a:cs typeface="Calibri" pitchFamily="34" charset="-120"/>
              </a:rPr>
              <a:t>Ropa de entrada y salida por histogramas y similitud coseno.</a:t>
            </a:r>
            <a:endParaRPr lang="en-US" sz="1200" dirty="0"/>
          </a:p>
        </p:txBody>
      </p:sp>
      <p:sp>
        <p:nvSpPr>
          <p:cNvPr id="18" name="Shape 16"/>
          <p:cNvSpPr/>
          <p:nvPr/>
        </p:nvSpPr>
        <p:spPr>
          <a:xfrm>
            <a:off x="6821424" y="1188720"/>
            <a:ext cx="1874520" cy="1828800"/>
          </a:xfrm>
          <a:prstGeom prst="roundRect">
            <a:avLst>
              <a:gd name="adj" fmla="val 4000"/>
            </a:avLst>
          </a:prstGeom>
          <a:solidFill>
            <a:srgbClr val="F4F7FB"/>
          </a:solidFill>
          <a:ln w="9525">
            <a:solidFill>
              <a:srgbClr val="D5DEE9"/>
            </a:solidFill>
            <a:prstDash val="solid"/>
          </a:ln>
        </p:spPr>
        <p:txBody>
          <a:bodyPr/>
          <a:lstStyle/>
          <a:p>
            <a:endParaRPr lang="es-PE"/>
          </a:p>
        </p:txBody>
      </p:sp>
      <p:sp>
        <p:nvSpPr>
          <p:cNvPr id="19" name="Shape 17"/>
          <p:cNvSpPr/>
          <p:nvPr/>
        </p:nvSpPr>
        <p:spPr>
          <a:xfrm>
            <a:off x="6958584" y="1298448"/>
            <a:ext cx="384048" cy="384048"/>
          </a:xfrm>
          <a:prstGeom prst="ellipse">
            <a:avLst/>
          </a:prstGeom>
          <a:solidFill>
            <a:srgbClr val="F2A93B"/>
          </a:solidFill>
          <a:ln w="12700">
            <a:solidFill>
              <a:srgbClr val="F2A93B"/>
            </a:solidFill>
            <a:prstDash val="solid"/>
          </a:ln>
        </p:spPr>
        <p:txBody>
          <a:bodyPr/>
          <a:lstStyle/>
          <a:p>
            <a:endParaRPr lang="es-PE"/>
          </a:p>
        </p:txBody>
      </p:sp>
      <p:sp>
        <p:nvSpPr>
          <p:cNvPr id="20" name="Text 18"/>
          <p:cNvSpPr txBox="1"/>
          <p:nvPr/>
        </p:nvSpPr>
        <p:spPr>
          <a:xfrm>
            <a:off x="6958584" y="1298448"/>
            <a:ext cx="384048" cy="384048"/>
          </a:xfrm>
          <a:prstGeom prst="rect">
            <a:avLst/>
          </a:prstGeom>
          <a:noFill/>
          <a:ln/>
        </p:spPr>
        <p:txBody>
          <a:bodyPr wrap="square" lIns="0" tIns="0" rIns="0" bIns="0" rtlCol="0" anchor="ctr"/>
          <a:lstStyle/>
          <a:p>
            <a:pPr marL="0" indent="0" algn="ctr">
              <a:buNone/>
            </a:pPr>
            <a:r>
              <a:rPr lang="en-US" sz="1400" b="1" dirty="0">
                <a:solidFill>
                  <a:srgbClr val="0B1F3A"/>
                </a:solidFill>
                <a:latin typeface="Calibri" pitchFamily="34" charset="0"/>
                <a:ea typeface="Calibri" pitchFamily="34" charset="-122"/>
                <a:cs typeface="Calibri" pitchFamily="34" charset="-120"/>
              </a:rPr>
              <a:t>4</a:t>
            </a:r>
            <a:endParaRPr lang="en-US" sz="1400" dirty="0"/>
          </a:p>
        </p:txBody>
      </p:sp>
      <p:sp>
        <p:nvSpPr>
          <p:cNvPr id="21" name="Text 19"/>
          <p:cNvSpPr txBox="1"/>
          <p:nvPr/>
        </p:nvSpPr>
        <p:spPr>
          <a:xfrm>
            <a:off x="6958584" y="1783080"/>
            <a:ext cx="1645920" cy="320040"/>
          </a:xfrm>
          <a:prstGeom prst="rect">
            <a:avLst/>
          </a:prstGeom>
          <a:noFill/>
          <a:ln/>
        </p:spPr>
        <p:txBody>
          <a:bodyPr wrap="square" lIns="0" tIns="0" rIns="0" bIns="0" rtlCol="0" anchor="t"/>
          <a:lstStyle/>
          <a:p>
            <a:pPr marL="0" indent="0">
              <a:buNone/>
            </a:pPr>
            <a:r>
              <a:rPr lang="en-US" sz="1600" b="1" dirty="0">
                <a:solidFill>
                  <a:srgbClr val="0B1F3A"/>
                </a:solidFill>
                <a:latin typeface="Cambria" pitchFamily="34" charset="0"/>
                <a:ea typeface="Cambria" pitchFamily="34" charset="-122"/>
                <a:cs typeface="Cambria" pitchFamily="34" charset="-120"/>
              </a:rPr>
              <a:t>Reporta</a:t>
            </a:r>
            <a:endParaRPr lang="en-US" sz="1600" dirty="0"/>
          </a:p>
        </p:txBody>
      </p:sp>
      <p:sp>
        <p:nvSpPr>
          <p:cNvPr id="22" name="Text 20"/>
          <p:cNvSpPr txBox="1"/>
          <p:nvPr/>
        </p:nvSpPr>
        <p:spPr>
          <a:xfrm>
            <a:off x="6958584" y="2148840"/>
            <a:ext cx="1645920" cy="822960"/>
          </a:xfrm>
          <a:prstGeom prst="rect">
            <a:avLst/>
          </a:prstGeom>
          <a:noFill/>
          <a:ln/>
        </p:spPr>
        <p:txBody>
          <a:bodyPr wrap="square" lIns="0" tIns="0" rIns="0" bIns="0" rtlCol="0" anchor="t"/>
          <a:lstStyle/>
          <a:p>
            <a:pPr marL="0" indent="0">
              <a:buNone/>
            </a:pPr>
            <a:r>
              <a:rPr lang="en-US" sz="1200" dirty="0">
                <a:solidFill>
                  <a:srgbClr val="1B2430"/>
                </a:solidFill>
                <a:latin typeface="Calibri" pitchFamily="34" charset="0"/>
                <a:ea typeface="Calibri" pitchFamily="34" charset="-122"/>
                <a:cs typeface="Calibri" pitchFamily="34" charset="-120"/>
              </a:rPr>
              <a:t>Salidas emparejadas, sin emparejar y cobertura.</a:t>
            </a:r>
            <a:endParaRPr lang="en-US" sz="1200" dirty="0"/>
          </a:p>
        </p:txBody>
      </p:sp>
      <p:sp>
        <p:nvSpPr>
          <p:cNvPr id="23" name="Text 21"/>
          <p:cNvSpPr txBox="1"/>
          <p:nvPr/>
        </p:nvSpPr>
        <p:spPr>
          <a:xfrm>
            <a:off x="457200" y="3291840"/>
            <a:ext cx="8229600"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Umbral conservador: se descartan candidatos ambiguos y los emparejamientos caducan.</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Se guardan muestras agregadas, no fotografías de personas.</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No se entrenó un modelo propio ni se usa OSNet. Un bolso tipo cartera no prueba una compra.</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Falta evaluar precisión con videos reales de entradas y salidas.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0B1F3A"/>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Visión adaptativa para escenas saturadas</a:t>
            </a:r>
            <a:endParaRPr lang="en-US" sz="2800" dirty="0"/>
          </a:p>
        </p:txBody>
      </p:sp>
      <p:sp>
        <p:nvSpPr>
          <p:cNvPr id="3" name="Text 1"/>
          <p:cNvSpPr txBox="1"/>
          <p:nvPr/>
        </p:nvSpPr>
        <p:spPr>
          <a:xfrm>
            <a:off x="457200" y="1097280"/>
            <a:ext cx="8229600" cy="640080"/>
          </a:xfrm>
          <a:prstGeom prst="rect">
            <a:avLst/>
          </a:prstGeom>
          <a:noFill/>
          <a:ln/>
        </p:spPr>
        <p:txBody>
          <a:bodyPr wrap="square" lIns="0" tIns="0" rIns="0" bIns="0" rtlCol="0" anchor="t"/>
          <a:lstStyle/>
          <a:p>
            <a:pPr marL="0" indent="0">
              <a:buNone/>
            </a:pPr>
            <a:r>
              <a:rPr lang="en-US" sz="1500" dirty="0">
                <a:solidFill>
                  <a:srgbClr val="DCE9F5"/>
                </a:solidFill>
                <a:latin typeface="Calibri" pitchFamily="34" charset="0"/>
                <a:ea typeface="Calibri" pitchFamily="34" charset="-122"/>
                <a:cs typeface="Calibri" pitchFamily="34" charset="-120"/>
              </a:rPr>
              <a:t>El sistema vigila cada cuadro y, cuando la escena se satura, pide un conteo de densidad en segundo plano.</a:t>
            </a:r>
            <a:endParaRPr lang="en-US" sz="1500" dirty="0"/>
          </a:p>
        </p:txBody>
      </p:sp>
      <p:sp>
        <p:nvSpPr>
          <p:cNvPr id="4" name="Shape 2"/>
          <p:cNvSpPr/>
          <p:nvPr/>
        </p:nvSpPr>
        <p:spPr>
          <a:xfrm>
            <a:off x="457200" y="1874520"/>
            <a:ext cx="2651760" cy="1234440"/>
          </a:xfrm>
          <a:prstGeom prst="roundRect">
            <a:avLst>
              <a:gd name="adj" fmla="val 5926"/>
            </a:avLst>
          </a:prstGeom>
          <a:solidFill>
            <a:srgbClr val="13315A"/>
          </a:solidFill>
          <a:ln w="9525">
            <a:solidFill>
              <a:srgbClr val="13315A"/>
            </a:solidFill>
            <a:prstDash val="solid"/>
          </a:ln>
        </p:spPr>
        <p:txBody>
          <a:bodyPr/>
          <a:lstStyle/>
          <a:p>
            <a:endParaRPr lang="es-PE"/>
          </a:p>
        </p:txBody>
      </p:sp>
      <p:sp>
        <p:nvSpPr>
          <p:cNvPr id="5" name="Text 3"/>
          <p:cNvSpPr txBox="1"/>
          <p:nvPr/>
        </p:nvSpPr>
        <p:spPr>
          <a:xfrm>
            <a:off x="640080" y="1965960"/>
            <a:ext cx="2286000" cy="365760"/>
          </a:xfrm>
          <a:prstGeom prst="rect">
            <a:avLst/>
          </a:prstGeom>
          <a:noFill/>
          <a:ln/>
        </p:spPr>
        <p:txBody>
          <a:bodyPr wrap="square" lIns="0" tIns="0" rIns="0" bIns="0" rtlCol="0" anchor="t"/>
          <a:lstStyle/>
          <a:p>
            <a:pPr marL="0" indent="0">
              <a:buNone/>
            </a:pPr>
            <a:r>
              <a:rPr lang="en-US" sz="1800" b="1" dirty="0">
                <a:solidFill>
                  <a:srgbClr val="F2A93B"/>
                </a:solidFill>
                <a:latin typeface="Cambria" pitchFamily="34" charset="0"/>
                <a:ea typeface="Cambria" pitchFamily="34" charset="-122"/>
                <a:cs typeface="Cambria" pitchFamily="34" charset="-120"/>
              </a:rPr>
              <a:t>Normal</a:t>
            </a:r>
            <a:endParaRPr lang="en-US" sz="1800" dirty="0"/>
          </a:p>
        </p:txBody>
      </p:sp>
      <p:sp>
        <p:nvSpPr>
          <p:cNvPr id="6" name="Text 4"/>
          <p:cNvSpPr txBox="1"/>
          <p:nvPr/>
        </p:nvSpPr>
        <p:spPr>
          <a:xfrm>
            <a:off x="640080" y="2377440"/>
            <a:ext cx="2286000" cy="685800"/>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Detector principal y seguimiento de identidades</a:t>
            </a:r>
            <a:endParaRPr lang="en-US" sz="1300" dirty="0"/>
          </a:p>
        </p:txBody>
      </p:sp>
      <p:sp>
        <p:nvSpPr>
          <p:cNvPr id="7" name="Shape 5"/>
          <p:cNvSpPr/>
          <p:nvPr/>
        </p:nvSpPr>
        <p:spPr>
          <a:xfrm>
            <a:off x="3246120" y="1874520"/>
            <a:ext cx="2651760" cy="1234440"/>
          </a:xfrm>
          <a:prstGeom prst="roundRect">
            <a:avLst>
              <a:gd name="adj" fmla="val 5926"/>
            </a:avLst>
          </a:prstGeom>
          <a:solidFill>
            <a:srgbClr val="13315A"/>
          </a:solidFill>
          <a:ln w="9525">
            <a:solidFill>
              <a:srgbClr val="13315A"/>
            </a:solidFill>
            <a:prstDash val="solid"/>
          </a:ln>
        </p:spPr>
        <p:txBody>
          <a:bodyPr/>
          <a:lstStyle/>
          <a:p>
            <a:endParaRPr lang="es-PE"/>
          </a:p>
        </p:txBody>
      </p:sp>
      <p:sp>
        <p:nvSpPr>
          <p:cNvPr id="8" name="Text 6"/>
          <p:cNvSpPr txBox="1"/>
          <p:nvPr/>
        </p:nvSpPr>
        <p:spPr>
          <a:xfrm>
            <a:off x="3429000" y="1965960"/>
            <a:ext cx="2286000" cy="365760"/>
          </a:xfrm>
          <a:prstGeom prst="rect">
            <a:avLst/>
          </a:prstGeom>
          <a:noFill/>
          <a:ln/>
        </p:spPr>
        <p:txBody>
          <a:bodyPr wrap="square" lIns="0" tIns="0" rIns="0" bIns="0" rtlCol="0" anchor="t"/>
          <a:lstStyle/>
          <a:p>
            <a:pPr marL="0" indent="0">
              <a:buNone/>
            </a:pPr>
            <a:r>
              <a:rPr lang="en-US" sz="1800" b="1" dirty="0">
                <a:solidFill>
                  <a:srgbClr val="F2A93B"/>
                </a:solidFill>
                <a:latin typeface="Cambria" pitchFamily="34" charset="0"/>
                <a:ea typeface="Cambria" pitchFamily="34" charset="-122"/>
                <a:cs typeface="Cambria" pitchFamily="34" charset="-120"/>
              </a:rPr>
              <a:t>Denso</a:t>
            </a:r>
            <a:endParaRPr lang="en-US" sz="1800" dirty="0"/>
          </a:p>
        </p:txBody>
      </p:sp>
      <p:sp>
        <p:nvSpPr>
          <p:cNvPr id="9" name="Text 7"/>
          <p:cNvSpPr txBox="1"/>
          <p:nvPr/>
        </p:nvSpPr>
        <p:spPr>
          <a:xfrm>
            <a:off x="3429000" y="2377440"/>
            <a:ext cx="2286000" cy="685800"/>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Tras 3 cuadros saturados se solicita P2PNet</a:t>
            </a:r>
            <a:endParaRPr lang="en-US" sz="1300" dirty="0"/>
          </a:p>
        </p:txBody>
      </p:sp>
      <p:sp>
        <p:nvSpPr>
          <p:cNvPr id="10" name="Shape 8"/>
          <p:cNvSpPr/>
          <p:nvPr/>
        </p:nvSpPr>
        <p:spPr>
          <a:xfrm>
            <a:off x="6035040" y="1874520"/>
            <a:ext cx="2651760" cy="1234440"/>
          </a:xfrm>
          <a:prstGeom prst="roundRect">
            <a:avLst>
              <a:gd name="adj" fmla="val 5926"/>
            </a:avLst>
          </a:prstGeom>
          <a:solidFill>
            <a:srgbClr val="13315A"/>
          </a:solidFill>
          <a:ln w="9525">
            <a:solidFill>
              <a:srgbClr val="13315A"/>
            </a:solidFill>
            <a:prstDash val="solid"/>
          </a:ln>
        </p:spPr>
        <p:txBody>
          <a:bodyPr/>
          <a:lstStyle/>
          <a:p>
            <a:endParaRPr lang="es-PE"/>
          </a:p>
        </p:txBody>
      </p:sp>
      <p:sp>
        <p:nvSpPr>
          <p:cNvPr id="11" name="Text 9"/>
          <p:cNvSpPr txBox="1"/>
          <p:nvPr/>
        </p:nvSpPr>
        <p:spPr>
          <a:xfrm>
            <a:off x="6217920" y="1965960"/>
            <a:ext cx="2286000" cy="365760"/>
          </a:xfrm>
          <a:prstGeom prst="rect">
            <a:avLst/>
          </a:prstGeom>
          <a:noFill/>
          <a:ln/>
        </p:spPr>
        <p:txBody>
          <a:bodyPr wrap="square" lIns="0" tIns="0" rIns="0" bIns="0" rtlCol="0" anchor="t"/>
          <a:lstStyle/>
          <a:p>
            <a:pPr marL="0" indent="0">
              <a:buNone/>
            </a:pPr>
            <a:r>
              <a:rPr lang="en-US" sz="1800" b="1" dirty="0">
                <a:solidFill>
                  <a:srgbClr val="F2A93B"/>
                </a:solidFill>
                <a:latin typeface="Cambria" pitchFamily="34" charset="0"/>
                <a:ea typeface="Cambria" pitchFamily="34" charset="-122"/>
                <a:cs typeface="Cambria" pitchFamily="34" charset="-120"/>
              </a:rPr>
              <a:t>Recuperación</a:t>
            </a:r>
            <a:endParaRPr lang="en-US" sz="1800" dirty="0"/>
          </a:p>
        </p:txBody>
      </p:sp>
      <p:sp>
        <p:nvSpPr>
          <p:cNvPr id="12" name="Text 10"/>
          <p:cNvSpPr txBox="1"/>
          <p:nvPr/>
        </p:nvSpPr>
        <p:spPr>
          <a:xfrm>
            <a:off x="6217920" y="2377440"/>
            <a:ext cx="2286000" cy="685800"/>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Tras 8 cuadros normales vuelve a la normalidad</a:t>
            </a:r>
            <a:endParaRPr lang="en-US" sz="1300" dirty="0"/>
          </a:p>
        </p:txBody>
      </p:sp>
      <p:sp>
        <p:nvSpPr>
          <p:cNvPr id="13" name="Text 11"/>
          <p:cNvSpPr txBox="1"/>
          <p:nvPr/>
        </p:nvSpPr>
        <p:spPr>
          <a:xfrm>
            <a:off x="457200" y="3337560"/>
            <a:ext cx="822960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Señales de saturación: 30 o más personas, cajas muy solapadas, pocos tracks frente a detecciones o inferencia lenta.</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P2PNet corre en un hilo aparte: no frena el video ni reemplaza las identidades seguidas.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Nuevo detector YOLO11 con punto de pies, útil para líneas de conteo y homografía.</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2800" b="1" dirty="0">
                <a:solidFill>
                  <a:srgbClr val="0B1F3A"/>
                </a:solidFill>
                <a:latin typeface="Cambria" pitchFamily="34" charset="0"/>
                <a:ea typeface="Cambria" pitchFamily="34" charset="-122"/>
                <a:cs typeface="Cambria" pitchFamily="34" charset="-120"/>
              </a:rPr>
              <a:t>Otras mejoras recientes</a:t>
            </a:r>
            <a:endParaRPr lang="en-US" sz="2800" dirty="0"/>
          </a:p>
        </p:txBody>
      </p:sp>
      <p:sp>
        <p:nvSpPr>
          <p:cNvPr id="3" name="Shape 1"/>
          <p:cNvSpPr/>
          <p:nvPr/>
        </p:nvSpPr>
        <p:spPr>
          <a:xfrm>
            <a:off x="457200" y="1188720"/>
            <a:ext cx="4023360" cy="1600200"/>
          </a:xfrm>
          <a:prstGeom prst="roundRect">
            <a:avLst>
              <a:gd name="adj" fmla="val 4571"/>
            </a:avLst>
          </a:prstGeom>
          <a:solidFill>
            <a:srgbClr val="F4F7FB"/>
          </a:solidFill>
          <a:ln w="9525">
            <a:solidFill>
              <a:srgbClr val="D5DEE9"/>
            </a:solidFill>
            <a:prstDash val="solid"/>
          </a:ln>
        </p:spPr>
        <p:txBody>
          <a:bodyPr/>
          <a:lstStyle/>
          <a:p>
            <a:endParaRPr lang="es-PE"/>
          </a:p>
        </p:txBody>
      </p:sp>
      <p:sp>
        <p:nvSpPr>
          <p:cNvPr id="4" name="Shape 2"/>
          <p:cNvSpPr/>
          <p:nvPr/>
        </p:nvSpPr>
        <p:spPr>
          <a:xfrm>
            <a:off x="640080" y="1371600"/>
            <a:ext cx="384048" cy="384048"/>
          </a:xfrm>
          <a:prstGeom prst="ellipse">
            <a:avLst/>
          </a:prstGeom>
          <a:solidFill>
            <a:srgbClr val="F2A93B"/>
          </a:solidFill>
          <a:ln w="12700">
            <a:solidFill>
              <a:srgbClr val="F2A93B"/>
            </a:solidFill>
            <a:prstDash val="solid"/>
          </a:ln>
        </p:spPr>
        <p:txBody>
          <a:bodyPr/>
          <a:lstStyle/>
          <a:p>
            <a:endParaRPr lang="es-PE"/>
          </a:p>
        </p:txBody>
      </p:sp>
      <p:sp>
        <p:nvSpPr>
          <p:cNvPr id="5" name="Text 3"/>
          <p:cNvSpPr txBox="1"/>
          <p:nvPr/>
        </p:nvSpPr>
        <p:spPr>
          <a:xfrm>
            <a:off x="640080" y="1371600"/>
            <a:ext cx="384048" cy="384048"/>
          </a:xfrm>
          <a:prstGeom prst="rect">
            <a:avLst/>
          </a:prstGeom>
          <a:noFill/>
          <a:ln/>
        </p:spPr>
        <p:txBody>
          <a:bodyPr wrap="square" lIns="0" tIns="0" rIns="0" bIns="0" rtlCol="0" anchor="ctr"/>
          <a:lstStyle/>
          <a:p>
            <a:pPr marL="0" indent="0" algn="ctr">
              <a:buNone/>
            </a:pPr>
            <a:r>
              <a:rPr lang="en-US" sz="1400" b="1" dirty="0">
                <a:solidFill>
                  <a:srgbClr val="0B1F3A"/>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143000" y="1344168"/>
            <a:ext cx="3200400" cy="411480"/>
          </a:xfrm>
          <a:prstGeom prst="rect">
            <a:avLst/>
          </a:prstGeom>
          <a:noFill/>
          <a:ln/>
        </p:spPr>
        <p:txBody>
          <a:bodyPr wrap="square" lIns="0" tIns="0" rIns="0" bIns="0" rtlCol="0" anchor="ctr"/>
          <a:lstStyle/>
          <a:p>
            <a:pPr marL="0" indent="0">
              <a:buNone/>
            </a:pPr>
            <a:r>
              <a:rPr lang="en-US" sz="1600" b="1" dirty="0">
                <a:solidFill>
                  <a:srgbClr val="0B1F3A"/>
                </a:solidFill>
                <a:latin typeface="Cambria" pitchFamily="34" charset="0"/>
                <a:ea typeface="Cambria" pitchFamily="34" charset="-122"/>
                <a:cs typeface="Cambria" pitchFamily="34" charset="-120"/>
              </a:rPr>
              <a:t>Reidentificación</a:t>
            </a:r>
            <a:endParaRPr lang="en-US" sz="1600" dirty="0"/>
          </a:p>
        </p:txBody>
      </p:sp>
      <p:sp>
        <p:nvSpPr>
          <p:cNvPr id="7" name="Text 5"/>
          <p:cNvSpPr txBox="1"/>
          <p:nvPr/>
        </p:nvSpPr>
        <p:spPr>
          <a:xfrm>
            <a:off x="685800" y="1874520"/>
            <a:ext cx="3611880" cy="868680"/>
          </a:xfrm>
          <a:prstGeom prst="rect">
            <a:avLst/>
          </a:prstGeom>
          <a:noFill/>
          <a:ln/>
        </p:spPr>
        <p:txBody>
          <a:bodyPr wrap="square" lIns="0" tIns="0" rIns="0" bIns="0" rtlCol="0" anchor="t"/>
          <a:lstStyle/>
          <a:p>
            <a:pPr marL="0" indent="0">
              <a:buNone/>
            </a:pPr>
            <a:r>
              <a:rPr lang="en-US" sz="1300" dirty="0">
                <a:solidFill>
                  <a:srgbClr val="1B2430"/>
                </a:solidFill>
                <a:latin typeface="Calibri" pitchFamily="34" charset="0"/>
                <a:ea typeface="Calibri" pitchFamily="34" charset="-122"/>
                <a:cs typeface="Calibri" pitchFamily="34" charset="-120"/>
              </a:rPr>
              <a:t>Recupera el mismo ID tras una detección perdida, con predicción de movimiento y tolerancia a puntos ciegos entre cámaras.</a:t>
            </a:r>
            <a:endParaRPr lang="en-US" sz="1300" dirty="0"/>
          </a:p>
        </p:txBody>
      </p:sp>
      <p:sp>
        <p:nvSpPr>
          <p:cNvPr id="8" name="Shape 6"/>
          <p:cNvSpPr/>
          <p:nvPr/>
        </p:nvSpPr>
        <p:spPr>
          <a:xfrm>
            <a:off x="4663440" y="1188720"/>
            <a:ext cx="4023360" cy="1600200"/>
          </a:xfrm>
          <a:prstGeom prst="roundRect">
            <a:avLst>
              <a:gd name="adj" fmla="val 4571"/>
            </a:avLst>
          </a:prstGeom>
          <a:solidFill>
            <a:srgbClr val="F4F7FB"/>
          </a:solidFill>
          <a:ln w="9525">
            <a:solidFill>
              <a:srgbClr val="D5DEE9"/>
            </a:solidFill>
            <a:prstDash val="solid"/>
          </a:ln>
        </p:spPr>
        <p:txBody>
          <a:bodyPr/>
          <a:lstStyle/>
          <a:p>
            <a:endParaRPr lang="es-PE"/>
          </a:p>
        </p:txBody>
      </p:sp>
      <p:sp>
        <p:nvSpPr>
          <p:cNvPr id="9" name="Shape 7"/>
          <p:cNvSpPr/>
          <p:nvPr/>
        </p:nvSpPr>
        <p:spPr>
          <a:xfrm>
            <a:off x="4846320" y="1371600"/>
            <a:ext cx="384048" cy="384048"/>
          </a:xfrm>
          <a:prstGeom prst="ellipse">
            <a:avLst/>
          </a:prstGeom>
          <a:solidFill>
            <a:srgbClr val="F2A93B"/>
          </a:solidFill>
          <a:ln w="12700">
            <a:solidFill>
              <a:srgbClr val="F2A93B"/>
            </a:solidFill>
            <a:prstDash val="solid"/>
          </a:ln>
        </p:spPr>
        <p:txBody>
          <a:bodyPr/>
          <a:lstStyle/>
          <a:p>
            <a:endParaRPr lang="es-PE"/>
          </a:p>
        </p:txBody>
      </p:sp>
      <p:sp>
        <p:nvSpPr>
          <p:cNvPr id="10" name="Text 8"/>
          <p:cNvSpPr txBox="1"/>
          <p:nvPr/>
        </p:nvSpPr>
        <p:spPr>
          <a:xfrm>
            <a:off x="4846320" y="1371600"/>
            <a:ext cx="384048" cy="384048"/>
          </a:xfrm>
          <a:prstGeom prst="rect">
            <a:avLst/>
          </a:prstGeom>
          <a:noFill/>
          <a:ln/>
        </p:spPr>
        <p:txBody>
          <a:bodyPr wrap="square" lIns="0" tIns="0" rIns="0" bIns="0" rtlCol="0" anchor="ctr"/>
          <a:lstStyle/>
          <a:p>
            <a:pPr marL="0" indent="0" algn="ctr">
              <a:buNone/>
            </a:pPr>
            <a:r>
              <a:rPr lang="en-US" sz="1400" b="1" dirty="0">
                <a:solidFill>
                  <a:srgbClr val="0B1F3A"/>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5349240" y="1344168"/>
            <a:ext cx="3200400" cy="411480"/>
          </a:xfrm>
          <a:prstGeom prst="rect">
            <a:avLst/>
          </a:prstGeom>
          <a:noFill/>
          <a:ln/>
        </p:spPr>
        <p:txBody>
          <a:bodyPr wrap="square" lIns="0" tIns="0" rIns="0" bIns="0" rtlCol="0" anchor="ctr"/>
          <a:lstStyle/>
          <a:p>
            <a:pPr marL="0" indent="0">
              <a:buNone/>
            </a:pPr>
            <a:r>
              <a:rPr lang="en-US" sz="1600" b="1" dirty="0">
                <a:solidFill>
                  <a:srgbClr val="0B1F3A"/>
                </a:solidFill>
                <a:latin typeface="Cambria" pitchFamily="34" charset="0"/>
                <a:ea typeface="Cambria" pitchFamily="34" charset="-122"/>
                <a:cs typeface="Cambria" pitchFamily="34" charset="-120"/>
              </a:rPr>
              <a:t>Videos de YouTube</a:t>
            </a:r>
            <a:endParaRPr lang="en-US" sz="1600" dirty="0"/>
          </a:p>
        </p:txBody>
      </p:sp>
      <p:sp>
        <p:nvSpPr>
          <p:cNvPr id="12" name="Text 10"/>
          <p:cNvSpPr txBox="1"/>
          <p:nvPr/>
        </p:nvSpPr>
        <p:spPr>
          <a:xfrm>
            <a:off x="4892040" y="1874520"/>
            <a:ext cx="3611880" cy="868680"/>
          </a:xfrm>
          <a:prstGeom prst="rect">
            <a:avLst/>
          </a:prstGeom>
          <a:noFill/>
          <a:ln/>
        </p:spPr>
        <p:txBody>
          <a:bodyPr wrap="square" lIns="0" tIns="0" rIns="0" bIns="0" rtlCol="0" anchor="t"/>
          <a:lstStyle/>
          <a:p>
            <a:pPr marL="0" indent="0">
              <a:buNone/>
            </a:pPr>
            <a:r>
              <a:rPr lang="en-US" sz="1300" dirty="0">
                <a:solidFill>
                  <a:srgbClr val="1B2430"/>
                </a:solidFill>
                <a:latin typeface="Calibri" pitchFamily="34" charset="0"/>
                <a:ea typeface="Calibri" pitchFamily="34" charset="-122"/>
                <a:cs typeface="Calibri" pitchFamily="34" charset="-120"/>
              </a:rPr>
              <a:t>Se pueden usar enlaces como fuente de video, resueltos con yt-dlp.</a:t>
            </a:r>
            <a:endParaRPr lang="en-US" sz="1300" dirty="0"/>
          </a:p>
        </p:txBody>
      </p:sp>
      <p:sp>
        <p:nvSpPr>
          <p:cNvPr id="13" name="Shape 11"/>
          <p:cNvSpPr/>
          <p:nvPr/>
        </p:nvSpPr>
        <p:spPr>
          <a:xfrm>
            <a:off x="457200" y="2971800"/>
            <a:ext cx="4023360" cy="1600200"/>
          </a:xfrm>
          <a:prstGeom prst="roundRect">
            <a:avLst>
              <a:gd name="adj" fmla="val 4571"/>
            </a:avLst>
          </a:prstGeom>
          <a:solidFill>
            <a:srgbClr val="F4F7FB"/>
          </a:solidFill>
          <a:ln w="9525">
            <a:solidFill>
              <a:srgbClr val="D5DEE9"/>
            </a:solidFill>
            <a:prstDash val="solid"/>
          </a:ln>
        </p:spPr>
        <p:txBody>
          <a:bodyPr/>
          <a:lstStyle/>
          <a:p>
            <a:endParaRPr lang="es-PE"/>
          </a:p>
        </p:txBody>
      </p:sp>
      <p:sp>
        <p:nvSpPr>
          <p:cNvPr id="14" name="Shape 12"/>
          <p:cNvSpPr/>
          <p:nvPr/>
        </p:nvSpPr>
        <p:spPr>
          <a:xfrm>
            <a:off x="640080" y="3154680"/>
            <a:ext cx="384048" cy="384048"/>
          </a:xfrm>
          <a:prstGeom prst="ellipse">
            <a:avLst/>
          </a:prstGeom>
          <a:solidFill>
            <a:srgbClr val="F2A93B"/>
          </a:solidFill>
          <a:ln w="12700">
            <a:solidFill>
              <a:srgbClr val="F2A93B"/>
            </a:solidFill>
            <a:prstDash val="solid"/>
          </a:ln>
        </p:spPr>
        <p:txBody>
          <a:bodyPr/>
          <a:lstStyle/>
          <a:p>
            <a:endParaRPr lang="es-PE"/>
          </a:p>
        </p:txBody>
      </p:sp>
      <p:sp>
        <p:nvSpPr>
          <p:cNvPr id="15" name="Text 13"/>
          <p:cNvSpPr txBox="1"/>
          <p:nvPr/>
        </p:nvSpPr>
        <p:spPr>
          <a:xfrm>
            <a:off x="640080" y="3154680"/>
            <a:ext cx="384048" cy="384048"/>
          </a:xfrm>
          <a:prstGeom prst="rect">
            <a:avLst/>
          </a:prstGeom>
          <a:noFill/>
          <a:ln/>
        </p:spPr>
        <p:txBody>
          <a:bodyPr wrap="square" lIns="0" tIns="0" rIns="0" bIns="0" rtlCol="0" anchor="ctr"/>
          <a:lstStyle/>
          <a:p>
            <a:pPr marL="0" indent="0" algn="ctr">
              <a:buNone/>
            </a:pPr>
            <a:r>
              <a:rPr lang="en-US" sz="1400" b="1" dirty="0">
                <a:solidFill>
                  <a:srgbClr val="0B1F3A"/>
                </a:solidFill>
                <a:latin typeface="Calibri" pitchFamily="34" charset="0"/>
                <a:ea typeface="Calibri" pitchFamily="34" charset="-122"/>
                <a:cs typeface="Calibri" pitchFamily="34" charset="-120"/>
              </a:rPr>
              <a:t>3</a:t>
            </a:r>
            <a:endParaRPr lang="en-US" sz="1400" dirty="0"/>
          </a:p>
        </p:txBody>
      </p:sp>
      <p:sp>
        <p:nvSpPr>
          <p:cNvPr id="16" name="Text 14"/>
          <p:cNvSpPr txBox="1"/>
          <p:nvPr/>
        </p:nvSpPr>
        <p:spPr>
          <a:xfrm>
            <a:off x="1143000" y="3127248"/>
            <a:ext cx="3200400" cy="411480"/>
          </a:xfrm>
          <a:prstGeom prst="rect">
            <a:avLst/>
          </a:prstGeom>
          <a:noFill/>
          <a:ln/>
        </p:spPr>
        <p:txBody>
          <a:bodyPr wrap="square" lIns="0" tIns="0" rIns="0" bIns="0" rtlCol="0" anchor="ctr"/>
          <a:lstStyle/>
          <a:p>
            <a:pPr marL="0" indent="0">
              <a:buNone/>
            </a:pPr>
            <a:r>
              <a:rPr lang="en-US" sz="1600" b="1" dirty="0">
                <a:solidFill>
                  <a:srgbClr val="0B1F3A"/>
                </a:solidFill>
                <a:latin typeface="Cambria" pitchFamily="34" charset="0"/>
                <a:ea typeface="Cambria" pitchFamily="34" charset="-122"/>
                <a:cs typeface="Cambria" pitchFamily="34" charset="-120"/>
              </a:rPr>
              <a:t>Reportes por sesión</a:t>
            </a:r>
            <a:endParaRPr lang="en-US" sz="1600" dirty="0"/>
          </a:p>
        </p:txBody>
      </p:sp>
      <p:sp>
        <p:nvSpPr>
          <p:cNvPr id="17" name="Text 15"/>
          <p:cNvSpPr txBox="1"/>
          <p:nvPr/>
        </p:nvSpPr>
        <p:spPr>
          <a:xfrm>
            <a:off x="685800" y="3657600"/>
            <a:ext cx="3611880" cy="868680"/>
          </a:xfrm>
          <a:prstGeom prst="rect">
            <a:avLst/>
          </a:prstGeom>
          <a:noFill/>
          <a:ln/>
        </p:spPr>
        <p:txBody>
          <a:bodyPr wrap="square" lIns="0" tIns="0" rIns="0" bIns="0" rtlCol="0" anchor="t"/>
          <a:lstStyle/>
          <a:p>
            <a:pPr marL="0" indent="0">
              <a:buNone/>
            </a:pPr>
            <a:r>
              <a:rPr lang="en-US" sz="1300" dirty="0">
                <a:solidFill>
                  <a:srgbClr val="1B2430"/>
                </a:solidFill>
                <a:latin typeface="Calibri" pitchFamily="34" charset="0"/>
                <a:ea typeface="Calibri" pitchFamily="34" charset="-122"/>
                <a:cs typeface="Calibri" pitchFamily="34" charset="-120"/>
              </a:rPr>
              <a:t>Se elige el monitoreo guardado y se exporta a PDF, Excel y CSV.</a:t>
            </a:r>
            <a:endParaRPr lang="en-US" sz="1300" dirty="0"/>
          </a:p>
        </p:txBody>
      </p:sp>
      <p:sp>
        <p:nvSpPr>
          <p:cNvPr id="18" name="Shape 16"/>
          <p:cNvSpPr/>
          <p:nvPr/>
        </p:nvSpPr>
        <p:spPr>
          <a:xfrm>
            <a:off x="4663440" y="2971800"/>
            <a:ext cx="4023360" cy="1600200"/>
          </a:xfrm>
          <a:prstGeom prst="roundRect">
            <a:avLst>
              <a:gd name="adj" fmla="val 4571"/>
            </a:avLst>
          </a:prstGeom>
          <a:solidFill>
            <a:srgbClr val="F4F7FB"/>
          </a:solidFill>
          <a:ln w="9525">
            <a:solidFill>
              <a:srgbClr val="D5DEE9"/>
            </a:solidFill>
            <a:prstDash val="solid"/>
          </a:ln>
        </p:spPr>
        <p:txBody>
          <a:bodyPr/>
          <a:lstStyle/>
          <a:p>
            <a:endParaRPr lang="es-PE"/>
          </a:p>
        </p:txBody>
      </p:sp>
      <p:sp>
        <p:nvSpPr>
          <p:cNvPr id="19" name="Shape 17"/>
          <p:cNvSpPr/>
          <p:nvPr/>
        </p:nvSpPr>
        <p:spPr>
          <a:xfrm>
            <a:off x="4846320" y="3154680"/>
            <a:ext cx="384048" cy="384048"/>
          </a:xfrm>
          <a:prstGeom prst="ellipse">
            <a:avLst/>
          </a:prstGeom>
          <a:solidFill>
            <a:srgbClr val="F2A93B"/>
          </a:solidFill>
          <a:ln w="12700">
            <a:solidFill>
              <a:srgbClr val="F2A93B"/>
            </a:solidFill>
            <a:prstDash val="solid"/>
          </a:ln>
        </p:spPr>
        <p:txBody>
          <a:bodyPr/>
          <a:lstStyle/>
          <a:p>
            <a:endParaRPr lang="es-PE"/>
          </a:p>
        </p:txBody>
      </p:sp>
      <p:sp>
        <p:nvSpPr>
          <p:cNvPr id="20" name="Text 18"/>
          <p:cNvSpPr txBox="1"/>
          <p:nvPr/>
        </p:nvSpPr>
        <p:spPr>
          <a:xfrm>
            <a:off x="4846320" y="3154680"/>
            <a:ext cx="384048" cy="384048"/>
          </a:xfrm>
          <a:prstGeom prst="rect">
            <a:avLst/>
          </a:prstGeom>
          <a:noFill/>
          <a:ln/>
        </p:spPr>
        <p:txBody>
          <a:bodyPr wrap="square" lIns="0" tIns="0" rIns="0" bIns="0" rtlCol="0" anchor="ctr"/>
          <a:lstStyle/>
          <a:p>
            <a:pPr marL="0" indent="0" algn="ctr">
              <a:buNone/>
            </a:pPr>
            <a:r>
              <a:rPr lang="en-US" sz="1400" b="1" dirty="0">
                <a:solidFill>
                  <a:srgbClr val="0B1F3A"/>
                </a:solidFill>
                <a:latin typeface="Calibri" pitchFamily="34" charset="0"/>
                <a:ea typeface="Calibri" pitchFamily="34" charset="-122"/>
                <a:cs typeface="Calibri" pitchFamily="34" charset="-120"/>
              </a:rPr>
              <a:t>4</a:t>
            </a:r>
            <a:endParaRPr lang="en-US" sz="1400" dirty="0"/>
          </a:p>
        </p:txBody>
      </p:sp>
      <p:sp>
        <p:nvSpPr>
          <p:cNvPr id="21" name="Text 19"/>
          <p:cNvSpPr txBox="1"/>
          <p:nvPr/>
        </p:nvSpPr>
        <p:spPr>
          <a:xfrm>
            <a:off x="5349240" y="3127248"/>
            <a:ext cx="3200400" cy="411480"/>
          </a:xfrm>
          <a:prstGeom prst="rect">
            <a:avLst/>
          </a:prstGeom>
          <a:noFill/>
          <a:ln/>
        </p:spPr>
        <p:txBody>
          <a:bodyPr wrap="square" lIns="0" tIns="0" rIns="0" bIns="0" rtlCol="0" anchor="ctr"/>
          <a:lstStyle/>
          <a:p>
            <a:pPr marL="0" indent="0">
              <a:buNone/>
            </a:pPr>
            <a:r>
              <a:rPr lang="en-US" sz="1600" b="1" dirty="0">
                <a:solidFill>
                  <a:srgbClr val="0B1F3A"/>
                </a:solidFill>
                <a:latin typeface="Cambria" pitchFamily="34" charset="0"/>
                <a:ea typeface="Cambria" pitchFamily="34" charset="-122"/>
                <a:cs typeface="Cambria" pitchFamily="34" charset="-120"/>
              </a:rPr>
              <a:t>Procesamiento de grabaciones</a:t>
            </a:r>
            <a:endParaRPr lang="en-US" sz="1600" dirty="0"/>
          </a:p>
        </p:txBody>
      </p:sp>
      <p:sp>
        <p:nvSpPr>
          <p:cNvPr id="22" name="Text 20"/>
          <p:cNvSpPr txBox="1"/>
          <p:nvPr/>
        </p:nvSpPr>
        <p:spPr>
          <a:xfrm>
            <a:off x="4892040" y="3657600"/>
            <a:ext cx="3611880" cy="868680"/>
          </a:xfrm>
          <a:prstGeom prst="rect">
            <a:avLst/>
          </a:prstGeom>
          <a:noFill/>
          <a:ln/>
        </p:spPr>
        <p:txBody>
          <a:bodyPr wrap="square" lIns="0" tIns="0" rIns="0" bIns="0" rtlCol="0" anchor="t"/>
          <a:lstStyle/>
          <a:p>
            <a:pPr marL="0" indent="0">
              <a:buNone/>
            </a:pPr>
            <a:r>
              <a:rPr lang="en-US" sz="1300" dirty="0">
                <a:solidFill>
                  <a:srgbClr val="1B2430"/>
                </a:solidFill>
                <a:latin typeface="Calibri" pitchFamily="34" charset="0"/>
                <a:ea typeface="Calibri" pitchFamily="34" charset="-122"/>
                <a:cs typeface="Calibri" pitchFamily="34" charset="-120"/>
              </a:rPr>
              <a:t>Tiempo de fuente separado del costo de cómputo, con muestras cada 0,2 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3">
    <p:bg>
      <p:bgPr>
        <a:solidFill>
          <a:srgbClr val="0B1F3A"/>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Conclusiones y próximos pasos</a:t>
            </a:r>
            <a:endParaRPr lang="en-US" sz="2800" dirty="0"/>
          </a:p>
        </p:txBody>
      </p:sp>
      <p:sp>
        <p:nvSpPr>
          <p:cNvPr id="3" name="Text 1"/>
          <p:cNvSpPr txBox="1"/>
          <p:nvPr/>
        </p:nvSpPr>
        <p:spPr>
          <a:xfrm>
            <a:off x="457200" y="1188720"/>
            <a:ext cx="3840480" cy="365760"/>
          </a:xfrm>
          <a:prstGeom prst="rect">
            <a:avLst/>
          </a:prstGeom>
          <a:noFill/>
          <a:ln/>
        </p:spPr>
        <p:txBody>
          <a:bodyPr wrap="square" lIns="0" tIns="0" rIns="0" bIns="0" rtlCol="0" anchor="t"/>
          <a:lstStyle/>
          <a:p>
            <a:pPr marL="0" indent="0">
              <a:buNone/>
            </a:pPr>
            <a:r>
              <a:rPr lang="en-US" sz="2000" b="1" dirty="0">
                <a:solidFill>
                  <a:srgbClr val="F2A93B"/>
                </a:solidFill>
                <a:latin typeface="Cambria" pitchFamily="34" charset="0"/>
                <a:ea typeface="Cambria" pitchFamily="34" charset="-122"/>
                <a:cs typeface="Cambria" pitchFamily="34" charset="-120"/>
              </a:rPr>
              <a:t>Conclusiones</a:t>
            </a:r>
            <a:endParaRPr lang="en-US" sz="2000" dirty="0"/>
          </a:p>
        </p:txBody>
      </p:sp>
      <p:sp>
        <p:nvSpPr>
          <p:cNvPr id="4" name="Text 2"/>
          <p:cNvSpPr txBox="1"/>
          <p:nvPr/>
        </p:nvSpPr>
        <p:spPr>
          <a:xfrm>
            <a:off x="457200" y="1691640"/>
            <a:ext cx="3840480" cy="27432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FFFFFF"/>
                </a:solidFill>
                <a:latin typeface="Calibri" pitchFamily="34" charset="0"/>
                <a:ea typeface="Calibri" pitchFamily="34" charset="-122"/>
                <a:cs typeface="Calibri" pitchFamily="34" charset="-120"/>
              </a:rPr>
              <a:t>El sistema ya conecta personas que entran con ventas por hora.</a:t>
            </a:r>
            <a:endParaRPr lang="en-US" sz="1600" dirty="0"/>
          </a:p>
          <a:p>
            <a:pPr marL="342900" indent="-342900">
              <a:spcAft>
                <a:spcPts val="600"/>
              </a:spcAft>
              <a:buSzPct val="100000"/>
              <a:buChar char="•"/>
            </a:pPr>
            <a:r>
              <a:rPr lang="en-US" sz="1600" dirty="0">
                <a:solidFill>
                  <a:srgbClr val="FFFFFF"/>
                </a:solidFill>
                <a:latin typeface="Calibri" pitchFamily="34" charset="0"/>
                <a:ea typeface="Calibri" pitchFamily="34" charset="-122"/>
                <a:cs typeface="Calibri" pitchFamily="34" charset="-120"/>
              </a:rPr>
              <a:t>Proyecta y pronostica con nivel de confianza explícito.</a:t>
            </a:r>
            <a:endParaRPr lang="en-US" sz="1600" dirty="0"/>
          </a:p>
          <a:p>
            <a:pPr marL="342900" indent="-342900">
              <a:spcAft>
                <a:spcPts val="600"/>
              </a:spcAft>
              <a:buSzPct val="100000"/>
              <a:buChar char="•"/>
            </a:pPr>
            <a:r>
              <a:rPr lang="en-US" sz="1600" dirty="0">
                <a:solidFill>
                  <a:srgbClr val="FFFFFF"/>
                </a:solidFill>
                <a:latin typeface="Calibri" pitchFamily="34" charset="0"/>
                <a:ea typeface="Calibri" pitchFamily="34" charset="-122"/>
                <a:cs typeface="Calibri" pitchFamily="34" charset="-120"/>
              </a:rPr>
              <a:t>Declara sus límites: sin causalidad y sin inventar cifras.</a:t>
            </a:r>
            <a:endParaRPr lang="en-US" sz="1600" dirty="0"/>
          </a:p>
        </p:txBody>
      </p:sp>
      <p:sp>
        <p:nvSpPr>
          <p:cNvPr id="5" name="Text 3"/>
          <p:cNvSpPr txBox="1"/>
          <p:nvPr/>
        </p:nvSpPr>
        <p:spPr>
          <a:xfrm>
            <a:off x="4754880" y="1188720"/>
            <a:ext cx="3840480" cy="365760"/>
          </a:xfrm>
          <a:prstGeom prst="rect">
            <a:avLst/>
          </a:prstGeom>
          <a:noFill/>
          <a:ln/>
        </p:spPr>
        <p:txBody>
          <a:bodyPr wrap="square" lIns="0" tIns="0" rIns="0" bIns="0" rtlCol="0" anchor="t"/>
          <a:lstStyle/>
          <a:p>
            <a:pPr marL="0" indent="0">
              <a:buNone/>
            </a:pPr>
            <a:r>
              <a:rPr lang="en-US" sz="2000" b="1" dirty="0">
                <a:solidFill>
                  <a:srgbClr val="F2A93B"/>
                </a:solidFill>
                <a:latin typeface="Cambria" pitchFamily="34" charset="0"/>
                <a:ea typeface="Cambria" pitchFamily="34" charset="-122"/>
                <a:cs typeface="Cambria" pitchFamily="34" charset="-120"/>
              </a:rPr>
              <a:t>Siguiente</a:t>
            </a:r>
            <a:endParaRPr lang="en-US" sz="2000" dirty="0"/>
          </a:p>
        </p:txBody>
      </p:sp>
      <p:sp>
        <p:nvSpPr>
          <p:cNvPr id="6" name="Text 4"/>
          <p:cNvSpPr txBox="1"/>
          <p:nvPr/>
        </p:nvSpPr>
        <p:spPr>
          <a:xfrm>
            <a:off x="4754880" y="1691640"/>
            <a:ext cx="3840480" cy="27432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FFFFFF"/>
                </a:solidFill>
                <a:latin typeface="Calibri" pitchFamily="34" charset="0"/>
                <a:ea typeface="Calibri" pitchFamily="34" charset="-122"/>
                <a:cs typeface="Calibri" pitchFamily="34" charset="-120"/>
              </a:rPr>
              <a:t>Probar con ventas reales de un local.</a:t>
            </a:r>
            <a:endParaRPr lang="en-US" sz="1600" dirty="0"/>
          </a:p>
          <a:p>
            <a:pPr marL="342900" indent="-342900">
              <a:spcAft>
                <a:spcPts val="600"/>
              </a:spcAft>
              <a:buSzPct val="100000"/>
              <a:buChar char="•"/>
            </a:pPr>
            <a:r>
              <a:rPr lang="en-US" sz="1600" dirty="0">
                <a:solidFill>
                  <a:srgbClr val="FFFFFF"/>
                </a:solidFill>
                <a:latin typeface="Calibri" pitchFamily="34" charset="0"/>
                <a:ea typeface="Calibri" pitchFamily="34" charset="-122"/>
                <a:cs typeface="Calibri" pitchFamily="34" charset="-120"/>
              </a:rPr>
              <a:t>Medir la precisión con videos anotados.</a:t>
            </a:r>
            <a:endParaRPr lang="en-US" sz="1600" dirty="0"/>
          </a:p>
          <a:p>
            <a:pPr marL="342900" indent="-342900">
              <a:spcAft>
                <a:spcPts val="600"/>
              </a:spcAft>
              <a:buSzPct val="100000"/>
              <a:buChar char="•"/>
            </a:pPr>
            <a:r>
              <a:rPr lang="en-US" sz="1600" dirty="0">
                <a:solidFill>
                  <a:srgbClr val="FFFFFF"/>
                </a:solidFill>
                <a:latin typeface="Calibri" pitchFamily="34" charset="0"/>
                <a:ea typeface="Calibri" pitchFamily="34" charset="-122"/>
                <a:cs typeface="Calibri" pitchFamily="34" charset="-120"/>
              </a:rPr>
              <a:t>Solicitar a LAP material del terminal.</a:t>
            </a:r>
            <a:endParaRPr lang="en-US" sz="1600" dirty="0"/>
          </a:p>
          <a:p>
            <a:pPr marL="342900" indent="-342900">
              <a:spcAft>
                <a:spcPts val="600"/>
              </a:spcAft>
              <a:buSzPct val="100000"/>
              <a:buChar char="•"/>
            </a:pPr>
            <a:r>
              <a:rPr lang="en-US" sz="1600" dirty="0">
                <a:solidFill>
                  <a:srgbClr val="FFFFFF"/>
                </a:solidFill>
                <a:latin typeface="Calibri" pitchFamily="34" charset="0"/>
                <a:ea typeface="Calibri" pitchFamily="34" charset="-122"/>
                <a:cs typeface="Calibri" pitchFamily="34" charset="-120"/>
              </a:rPr>
              <a:t>Evaluar GPU para operar casi en tiempo real.</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1090</Words>
  <Application>Microsoft Office PowerPoint</Application>
  <PresentationFormat>Presentación en pantalla (16:9)</PresentationFormat>
  <Paragraphs>158</Paragraphs>
  <Slides>10</Slides>
  <Notes>10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10</vt:i4>
      </vt:variant>
    </vt:vector>
  </HeadingPairs>
  <TitlesOfParts>
    <vt:vector size="14"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AeroTrack: novedades de la fase comercial</dc:title>
  <dc:subject>PptxGenJS Presentation</dc:subject>
  <dc:creator>PptxGenJS</dc:creator>
  <cp:lastModifiedBy>Angel Aguilar Contreras</cp:lastModifiedBy>
  <cp:revision>1</cp:revision>
  <dcterms:created xsi:type="dcterms:W3CDTF">2026-09-30T06:14:19Z</dcterms:created>
  <dcterms:modified xsi:type="dcterms:W3CDTF">2026-09-30T12:27:57Z</dcterms:modified>
</cp:coreProperties>
</file>